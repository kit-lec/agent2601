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embeddedFontLst>
    <p:embeddedFont>
      <p:font typeface="PT Sans Narrow"/>
      <p:regular r:id="rId31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TSansNarrow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OpenSans-regular.fntdata"/><Relationship Id="rId10" Type="http://schemas.openxmlformats.org/officeDocument/2006/relationships/slide" Target="slides/slide5.xml"/><Relationship Id="rId32" Type="http://schemas.openxmlformats.org/officeDocument/2006/relationships/font" Target="fonts/PTSansNarrow-bold.fntdata"/><Relationship Id="rId13" Type="http://schemas.openxmlformats.org/officeDocument/2006/relationships/slide" Target="slides/slide8.xml"/><Relationship Id="rId35" Type="http://schemas.openxmlformats.org/officeDocument/2006/relationships/font" Target="fonts/OpenSans-italic.fntdata"/><Relationship Id="rId12" Type="http://schemas.openxmlformats.org/officeDocument/2006/relationships/slide" Target="slides/slide7.xml"/><Relationship Id="rId34" Type="http://schemas.openxmlformats.org/officeDocument/2006/relationships/font" Target="fonts/OpenSans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c76781101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c76781101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c76781101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c76781101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c76781101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c76781101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c76781101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c76781101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c76781101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c76781101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c76781101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c76781101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c76781101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c76781101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c76781101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c76781101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c76781101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c76781101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c76781101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c76781101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c76781101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c76781101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c76781101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c76781101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c76781101_0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dc76781101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dc76781101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dc76781101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c76781101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c76781101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c76781101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c76781101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c76781101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c76781101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c76781101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c76781101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c76781101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c76781101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c76781101_0_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c76781101_0_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c76781101_0_5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c76781101_0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c76781101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c76781101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c76781101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c76781101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c76781101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c76781101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순차데이터, 순환신경망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9300" y="127276"/>
            <a:ext cx="4712999" cy="18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Intro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473850"/>
            <a:ext cx="3292800" cy="8436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우리 사이트 댓글 감정 분석해보세요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헉? 그 많은걸 언제 다 읽어 보나요?</a:t>
            </a:r>
            <a:endParaRPr/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3875" y="2448124"/>
            <a:ext cx="3131875" cy="21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/>
          <p:nvPr/>
        </p:nvSpPr>
        <p:spPr>
          <a:xfrm>
            <a:off x="218525" y="2638875"/>
            <a:ext cx="4091400" cy="780300"/>
          </a:xfrm>
          <a:prstGeom prst="wedgeRoundRectCallout">
            <a:avLst>
              <a:gd fmla="val 58114" name="adj1"/>
              <a:gd fmla="val 3640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딥러닝으로 </a:t>
            </a:r>
            <a:r>
              <a:rPr b="1" lang="ko" sz="12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댓글을 분석</a:t>
            </a: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해서 평가가 '긍정' / '부정' 여부 판단할수 있을까?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" name="Google Shape;77;p14"/>
          <p:cNvSpPr/>
          <p:nvPr/>
        </p:nvSpPr>
        <p:spPr>
          <a:xfrm>
            <a:off x="218525" y="3553275"/>
            <a:ext cx="4091400" cy="780300"/>
          </a:xfrm>
          <a:prstGeom prst="wedgeRoundRectCallout">
            <a:avLst>
              <a:gd fmla="val 900" name="adj1"/>
              <a:gd fmla="val 110941" name="adj2"/>
              <a:gd fmla="val 0" name="adj3"/>
            </a:avLst>
          </a:prstGeom>
          <a:solidFill>
            <a:srgbClr val="FFFFFF">
              <a:alpha val="7642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latin typeface="Consolas"/>
                <a:ea typeface="Consolas"/>
                <a:cs typeface="Consolas"/>
                <a:sym typeface="Consolas"/>
              </a:rPr>
              <a:t>글(텍스트, 자연어) 를 분석하는건 순환신경망을 통해 할수 있습니다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순차 데이터, 텍스트, 시계열 데이터</a:t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415900" y="1276600"/>
            <a:ext cx="7723800" cy="29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순차 데이터(Sequential Data)</a:t>
            </a: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'순서' 에 의미가 있는 데이터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예를들면 '텍스트' 나 '시계열 데이터'</a:t>
            </a:r>
            <a:b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텍스트</a:t>
            </a: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"I am a boy"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"boy am a I" &lt;- 순서 없이 섞어 놓으면 말이 안된다</a:t>
            </a:r>
            <a:b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</a:b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rabicPeriod"/>
            </a:pPr>
            <a:r>
              <a:rPr b="1"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시계열 데이터 (time series data)</a:t>
            </a:r>
            <a:endParaRPr b="1"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내일 온도를 예측하기 위해 지난 기간 일별 온도가 순서대로 있어야 한다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내일 주가를 예측하기 위해 지난 기간 일별 주가가 순서대로 있어야 한다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nsolas"/>
              <a:buAutoNum type="alphaLcPeriod"/>
            </a:pPr>
            <a:r>
              <a:rPr lang="ko" sz="13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↑ 이들 데이터들은 뒤죽박죽 섞여 있다면 내일의 값을 예측할수 없다</a:t>
            </a:r>
            <a:endParaRPr sz="13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39100" y="742525"/>
            <a:ext cx="8520600" cy="15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반면!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MNIST 예제를 생각해보자.  이를 신경망 모델에 전달할때는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0000FF"/>
                </a:solidFill>
              </a:rPr>
              <a:t>랜덤하게</a:t>
            </a:r>
            <a:r>
              <a:rPr lang="ko" sz="1200"/>
              <a:t> 섞은뒤 training / validation 세트로 나누었었다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심지어</a:t>
            </a:r>
            <a:r>
              <a:rPr lang="ko" sz="1200">
                <a:solidFill>
                  <a:srgbClr val="0000FF"/>
                </a:solidFill>
              </a:rPr>
              <a:t> 골고루 섞어 주는것이 더 좋은 결과를 기대할수 있었다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즉, 어떤 데이터가 먼저 입력이 되어도 모델의 학습에 영향을 주지 않았다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64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반면, CNN 과 MNIST 예제에선..</a:t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9775" y="2831725"/>
            <a:ext cx="3129126" cy="1971349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/>
          <p:nvPr/>
        </p:nvSpPr>
        <p:spPr>
          <a:xfrm>
            <a:off x="118625" y="3463700"/>
            <a:ext cx="2094000" cy="707400"/>
          </a:xfrm>
          <a:prstGeom prst="wedgeRoundRectCallout">
            <a:avLst>
              <a:gd fmla="val -2830" name="adj1"/>
              <a:gd fmla="val -83029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어떤 생선이 먼저 입력되어도 상관 없다 (</a:t>
            </a:r>
            <a:r>
              <a:rPr lang="ko" sz="1100">
                <a:solidFill>
                  <a:srgbClr val="FF0000"/>
                </a:solidFill>
              </a:rPr>
              <a:t>순서가 중요하지 않았다</a:t>
            </a:r>
            <a:r>
              <a:rPr lang="ko" sz="1100"/>
              <a:t>)</a:t>
            </a:r>
            <a:endParaRPr sz="1100"/>
          </a:p>
        </p:txBody>
      </p:sp>
      <p:sp>
        <p:nvSpPr>
          <p:cNvPr id="92" name="Google Shape;92;p16"/>
          <p:cNvSpPr txBox="1"/>
          <p:nvPr/>
        </p:nvSpPr>
        <p:spPr>
          <a:xfrm>
            <a:off x="6364850" y="2361625"/>
            <a:ext cx="892800" cy="36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모델</a:t>
            </a:r>
            <a:endParaRPr sz="18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45438" y="2551950"/>
            <a:ext cx="707400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6050" y="2730325"/>
            <a:ext cx="707400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32225" y="3412050"/>
            <a:ext cx="933825" cy="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6"/>
          <p:cNvSpPr/>
          <p:nvPr/>
        </p:nvSpPr>
        <p:spPr>
          <a:xfrm>
            <a:off x="4330700" y="3516225"/>
            <a:ext cx="737400" cy="3669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311700" y="285275"/>
            <a:ext cx="87942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0000FF"/>
                </a:solidFill>
              </a:rPr>
              <a:t>'순서'</a:t>
            </a:r>
            <a:r>
              <a:rPr lang="ko"/>
              <a:t>가 중요하다면, </a:t>
            </a:r>
            <a:r>
              <a:rPr lang="ko">
                <a:solidFill>
                  <a:srgbClr val="980000"/>
                </a:solidFill>
              </a:rPr>
              <a:t>이전의 것</a:t>
            </a:r>
            <a:r>
              <a:rPr lang="ko"/>
              <a:t>을 기억해야한다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311700" y="1266325"/>
            <a:ext cx="8520600" cy="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'</a:t>
            </a:r>
            <a:r>
              <a:rPr lang="ko"/>
              <a:t>최고입니다</a:t>
            </a:r>
            <a:r>
              <a:rPr lang="ko"/>
              <a:t>' + '</a:t>
            </a:r>
            <a:r>
              <a:rPr lang="ko"/>
              <a:t>꼭 보세요'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ko"/>
              <a:t>'나만 당할수 없다' + '꼭 보세요'</a:t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243750" y="2571750"/>
            <a:ext cx="8354100" cy="14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모델에 입력하는 순서가 중요한 </a:t>
            </a:r>
            <a:r>
              <a:rPr b="1"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순차 데이터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는 </a:t>
            </a:r>
            <a:r>
              <a:rPr b="1"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'이전에 입력한 데이터를 기억하는 기능'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이 필요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None/>
            </a:pP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영화 댓글에서 단순히 </a:t>
            </a:r>
            <a:r>
              <a:rPr lang="ko" sz="1600">
                <a:solidFill>
                  <a:srgbClr val="98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'꼭 보세요'</a:t>
            </a:r>
            <a:r>
              <a:rPr lang="ko" sz="16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라고 입력된 단어만 갖고 '긍정적' 이라는 판단을 못내린다</a:t>
            </a:r>
            <a:endParaRPr sz="16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382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Feedforward Neural Network (FNN)</a:t>
            </a:r>
            <a:endParaRPr/>
          </a:p>
        </p:txBody>
      </p:sp>
      <p:sp>
        <p:nvSpPr>
          <p:cNvPr id="109" name="Google Shape;109;p18"/>
          <p:cNvSpPr txBox="1"/>
          <p:nvPr/>
        </p:nvSpPr>
        <p:spPr>
          <a:xfrm>
            <a:off x="311700" y="659695"/>
            <a:ext cx="8750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이전에 배운, 완전연결 신경망, 합성곱 신경망 (CNN) 은 '기억장치' 가 없다.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하나의 샘플(배치)를 사용하여 </a:t>
            </a:r>
            <a:r>
              <a:rPr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정방향 계산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을 수행하면 그 샘플을 버려지고 재사용하지 않는다.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이와 같이 </a:t>
            </a:r>
            <a:r>
              <a:rPr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데이터의 흐름이 </a:t>
            </a:r>
            <a:r>
              <a:rPr b="1"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'앞으로만'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전달되는 신경망을 </a:t>
            </a:r>
            <a:r>
              <a:rPr b="1" lang="ko" sz="1500">
                <a:solidFill>
                  <a:srgbClr val="0000FF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피드포워드신경망 (feedforward neural network:FNN)</a:t>
            </a:r>
            <a:r>
              <a:rPr lang="ko" sz="1500"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이라고 합니다.</a:t>
            </a:r>
            <a:endParaRPr sz="1500"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0" name="Google Shape;110;p18"/>
          <p:cNvPicPr preferRelativeResize="0"/>
          <p:nvPr/>
        </p:nvPicPr>
        <p:blipFill rotWithShape="1">
          <a:blip r:embed="rId3">
            <a:alphaModFix/>
          </a:blip>
          <a:srcRect b="0" l="0" r="7817" t="17260"/>
          <a:stretch/>
        </p:blipFill>
        <p:spPr>
          <a:xfrm>
            <a:off x="3226488" y="2785550"/>
            <a:ext cx="2487275" cy="20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5925" y="3376850"/>
            <a:ext cx="707400" cy="70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53113" y="3376850"/>
            <a:ext cx="707400" cy="7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/>
          <p:nvPr/>
        </p:nvSpPr>
        <p:spPr>
          <a:xfrm>
            <a:off x="2669125" y="3453200"/>
            <a:ext cx="688500" cy="3426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5869525" y="3453200"/>
            <a:ext cx="688500" cy="342600"/>
          </a:xfrm>
          <a:prstGeom prst="rightArrow">
            <a:avLst>
              <a:gd fmla="val 58675" name="adj1"/>
              <a:gd fmla="val 26311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/>
          <p:nvPr/>
        </p:nvSpPr>
        <p:spPr>
          <a:xfrm>
            <a:off x="1101600" y="4280500"/>
            <a:ext cx="1208100" cy="549300"/>
          </a:xfrm>
          <a:prstGeom prst="wedgeRoundRectCallout">
            <a:avLst>
              <a:gd fmla="val -606" name="adj1"/>
              <a:gd fmla="val -79811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다음샘플 입력</a:t>
            </a:r>
            <a:endParaRPr sz="1100"/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94025" y="3428775"/>
            <a:ext cx="688500" cy="68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5064000" y="2375500"/>
            <a:ext cx="1208100" cy="549300"/>
          </a:xfrm>
          <a:prstGeom prst="wedgeRoundRectCallout">
            <a:avLst>
              <a:gd fmla="val -54099" name="adj1"/>
              <a:gd fmla="val 87047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FNN 에는 '메모리'가 없다.</a:t>
            </a:r>
            <a:endParaRPr sz="1100"/>
          </a:p>
        </p:txBody>
      </p:sp>
      <p:sp>
        <p:nvSpPr>
          <p:cNvPr id="118" name="Google Shape;118;p18"/>
          <p:cNvSpPr/>
          <p:nvPr/>
        </p:nvSpPr>
        <p:spPr>
          <a:xfrm>
            <a:off x="6497425" y="4280500"/>
            <a:ext cx="1431300" cy="549300"/>
          </a:xfrm>
          <a:prstGeom prst="wedgeRoundRectCallout">
            <a:avLst>
              <a:gd fmla="val 1802" name="adj1"/>
              <a:gd fmla="val -81581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다음 샘플을 위해 재사용 되지 않는다</a:t>
            </a:r>
            <a:endParaRPr sz="1100"/>
          </a:p>
        </p:txBody>
      </p:sp>
      <p:sp>
        <p:nvSpPr>
          <p:cNvPr id="119" name="Google Shape;119;p18"/>
          <p:cNvSpPr/>
          <p:nvPr/>
        </p:nvSpPr>
        <p:spPr>
          <a:xfrm>
            <a:off x="6769150" y="3155975"/>
            <a:ext cx="688500" cy="934800"/>
          </a:xfrm>
          <a:prstGeom prst="mathMultiply">
            <a:avLst>
              <a:gd fmla="val 12687" name="adj1"/>
            </a:avLst>
          </a:prstGeom>
          <a:solidFill>
            <a:srgbClr val="F4CCCC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2114625" y="20065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피드 포워드 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3410025" y="10921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인공신경망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4553025" y="2006550"/>
            <a:ext cx="16962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순환신경망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1352625" y="2844750"/>
            <a:ext cx="13551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합성곱 신경망</a:t>
            </a:r>
            <a:endParaRPr b="1" sz="1100">
              <a:solidFill>
                <a:srgbClr val="595959"/>
              </a:solidFill>
            </a:endParaRPr>
          </a:p>
        </p:txBody>
      </p:sp>
      <p:sp>
        <p:nvSpPr>
          <p:cNvPr id="128" name="Google Shape;128;p19"/>
          <p:cNvSpPr/>
          <p:nvPr/>
        </p:nvSpPr>
        <p:spPr>
          <a:xfrm>
            <a:off x="2876625" y="2844750"/>
            <a:ext cx="1355100" cy="471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완전연결신경망</a:t>
            </a:r>
            <a:endParaRPr b="1" sz="1100">
              <a:solidFill>
                <a:srgbClr val="595959"/>
              </a:solidFill>
            </a:endParaRPr>
          </a:p>
        </p:txBody>
      </p:sp>
      <p:cxnSp>
        <p:nvCxnSpPr>
          <p:cNvPr id="129" name="Google Shape;129;p19"/>
          <p:cNvCxnSpPr>
            <a:stCxn id="127" idx="0"/>
            <a:endCxn id="124" idx="2"/>
          </p:cNvCxnSpPr>
          <p:nvPr/>
        </p:nvCxnSpPr>
        <p:spPr>
          <a:xfrm rot="-5400000">
            <a:off x="2313375" y="2195250"/>
            <a:ext cx="366300" cy="9327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9"/>
          <p:cNvCxnSpPr>
            <a:stCxn id="128" idx="0"/>
            <a:endCxn id="124" idx="2"/>
          </p:cNvCxnSpPr>
          <p:nvPr/>
        </p:nvCxnSpPr>
        <p:spPr>
          <a:xfrm flipH="1" rot="5400000">
            <a:off x="3075225" y="2365800"/>
            <a:ext cx="366300" cy="591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9"/>
          <p:cNvCxnSpPr>
            <a:stCxn id="125" idx="2"/>
            <a:endCxn id="124" idx="0"/>
          </p:cNvCxnSpPr>
          <p:nvPr/>
        </p:nvCxnSpPr>
        <p:spPr>
          <a:xfrm rot="5400000">
            <a:off x="3389175" y="1137600"/>
            <a:ext cx="442500" cy="129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9"/>
          <p:cNvCxnSpPr>
            <a:stCxn id="125" idx="2"/>
            <a:endCxn id="126" idx="0"/>
          </p:cNvCxnSpPr>
          <p:nvPr/>
        </p:nvCxnSpPr>
        <p:spPr>
          <a:xfrm flipH="1" rot="-5400000">
            <a:off x="4608375" y="1213800"/>
            <a:ext cx="442500" cy="11430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9"/>
          <p:cNvCxnSpPr>
            <a:stCxn id="125" idx="2"/>
            <a:endCxn id="134" idx="0"/>
          </p:cNvCxnSpPr>
          <p:nvPr/>
        </p:nvCxnSpPr>
        <p:spPr>
          <a:xfrm flipH="1" rot="-5400000">
            <a:off x="5687175" y="135000"/>
            <a:ext cx="442500" cy="3300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19"/>
          <p:cNvSpPr/>
          <p:nvPr/>
        </p:nvSpPr>
        <p:spPr>
          <a:xfrm>
            <a:off x="6458025" y="2006550"/>
            <a:ext cx="22014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GAN, RFB</a:t>
            </a:r>
            <a:endParaRPr b="1" sz="1100">
              <a:solidFill>
                <a:srgbClr val="59595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595959"/>
                </a:solidFill>
              </a:rPr>
              <a:t>인코더-디코더 네크워크등…</a:t>
            </a:r>
            <a:endParaRPr b="1" sz="11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/>
        </p:nvSpPr>
        <p:spPr>
          <a:xfrm>
            <a:off x="311700" y="1402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순환신경망(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RNN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: Recurrent neural network)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11700" y="774800"/>
            <a:ext cx="85206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'이전에 처리했던 샘플'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들이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'다음 샘플을 처리하기 위해 재사용'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되는 신경망.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즉, 데이터의 흐름이 앞으로만 전달되는 것이 아니라, 이전 데이터가 신경망 층에 순환되는 신경망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2063000"/>
            <a:ext cx="5644500" cy="28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/>
        </p:nvSpPr>
        <p:spPr>
          <a:xfrm>
            <a:off x="311700" y="71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순환신경망 예시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9250" y="177850"/>
            <a:ext cx="3211448" cy="1526294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21"/>
          <p:cNvSpPr/>
          <p:nvPr/>
        </p:nvSpPr>
        <p:spPr>
          <a:xfrm>
            <a:off x="6111100" y="118425"/>
            <a:ext cx="1434300" cy="670800"/>
          </a:xfrm>
          <a:prstGeom prst="wedgeRoundRectCallout">
            <a:avLst>
              <a:gd fmla="val -75446" name="adj1"/>
              <a:gd fmla="val 4091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O</a:t>
            </a:r>
            <a:r>
              <a:rPr b="1" baseline="-25000" lang="ko" sz="1000"/>
              <a:t>A</a:t>
            </a:r>
            <a:r>
              <a:rPr lang="ko" sz="1000"/>
              <a:t>  는 샘플 A 를 처리하고 난 출력</a:t>
            </a:r>
            <a:endParaRPr sz="1000"/>
          </a:p>
        </p:txBody>
      </p:sp>
      <p:pic>
        <p:nvPicPr>
          <p:cNvPr id="149" name="Google Shape;14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19252" y="1783141"/>
            <a:ext cx="3211447" cy="1612700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0" name="Google Shape;15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77500" y="3573850"/>
            <a:ext cx="3211450" cy="1431988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" name="Google Shape;151;p21"/>
          <p:cNvSpPr txBox="1"/>
          <p:nvPr/>
        </p:nvSpPr>
        <p:spPr>
          <a:xfrm>
            <a:off x="260775" y="728075"/>
            <a:ext cx="2259900" cy="1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가령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오른쪽과 같은 A, B, C  3개의 샘플들은 </a:t>
            </a:r>
            <a:r>
              <a:rPr lang="ko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순차적으로 처리</a:t>
            </a:r>
            <a:r>
              <a:rPr lang="ko" sz="12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하는 순환 신경망 뉴런 </a:t>
            </a:r>
            <a:endParaRPr sz="12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158475" y="2027775"/>
            <a:ext cx="1725600" cy="670800"/>
          </a:xfrm>
          <a:prstGeom prst="wedgeRoundRectCallout">
            <a:avLst>
              <a:gd fmla="val 32772" name="adj1"/>
              <a:gd fmla="val -85473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※'시퀀스(Sequence)' 단위로 처리하는 모델이라고도 말한다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/>
          <p:nvPr/>
        </p:nvSpPr>
        <p:spPr>
          <a:xfrm>
            <a:off x="301375" y="157925"/>
            <a:ext cx="44379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타입스텝 (timestep, 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시점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775" y="1017725"/>
            <a:ext cx="3211450" cy="1431988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9" name="Google Shape;159;p22"/>
          <p:cNvSpPr/>
          <p:nvPr/>
        </p:nvSpPr>
        <p:spPr>
          <a:xfrm>
            <a:off x="3403550" y="865325"/>
            <a:ext cx="3038700" cy="924900"/>
          </a:xfrm>
          <a:prstGeom prst="wedgeRoundRectCallout">
            <a:avLst>
              <a:gd fmla="val -71266" name="adj1"/>
              <a:gd fmla="val 45013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이때 O</a:t>
            </a:r>
            <a:r>
              <a:rPr baseline="-25000" lang="ko" sz="1000"/>
              <a:t>C</a:t>
            </a:r>
            <a:r>
              <a:rPr lang="ko" sz="1000"/>
              <a:t> 에는 A 보다는 B 에 대한 정보를 더 많이 갖고 있을것이다.  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순환신경망에서는 이를 </a:t>
            </a:r>
            <a:r>
              <a:rPr lang="ko" sz="1000">
                <a:solidFill>
                  <a:srgbClr val="0000FF"/>
                </a:solidFill>
              </a:rPr>
              <a:t>'이전 샘플에 대한 기억을 가지고 있다'</a:t>
            </a:r>
            <a:r>
              <a:rPr lang="ko" sz="1000"/>
              <a:t> 고 한다.</a:t>
            </a:r>
            <a:endParaRPr sz="1000"/>
          </a:p>
        </p:txBody>
      </p:sp>
      <p:sp>
        <p:nvSpPr>
          <p:cNvPr id="160" name="Google Shape;160;p22"/>
          <p:cNvSpPr txBox="1"/>
          <p:nvPr/>
        </p:nvSpPr>
        <p:spPr>
          <a:xfrm>
            <a:off x="509250" y="3013100"/>
            <a:ext cx="8323200" cy="15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이렇게 샘플을 처리하는 한 단계를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타임스텝(시점)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이라고 합니다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타임스텝이 오래될수록 순환되는 정보는 희미해지게 될거다..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/>
        </p:nvSpPr>
        <p:spPr>
          <a:xfrm>
            <a:off x="311700" y="2164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셀 (Cell) ,  은닉상태 (Hidden state)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194" y="1993919"/>
            <a:ext cx="1812425" cy="22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/>
          <p:nvPr/>
        </p:nvSpPr>
        <p:spPr>
          <a:xfrm>
            <a:off x="1187025" y="1951475"/>
            <a:ext cx="797700" cy="2317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3225" y="2233603"/>
            <a:ext cx="3231900" cy="187642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23"/>
          <p:cNvSpPr txBox="1"/>
          <p:nvPr/>
        </p:nvSpPr>
        <p:spPr>
          <a:xfrm>
            <a:off x="311700" y="873875"/>
            <a:ext cx="8520600" cy="1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순환신경망 에서는 이러한 은닉층(layer) 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셀 (cell)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이라고 부릅니다.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하나의 셀에는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여러개의 뉴런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 있지만, 모든 뉴런을 표시하지 않고 하나의 셀로 '층' 을 표현한다.    이때 셀의 출력을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은닉상태(hidden state)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라고 한다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셀은 이전의 은닉층 출력값을 기억하고 있는 일종의 메모리 역할을 수행하므로 이를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메모리 cell 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이라고도 함.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활성화 함수 tanh</a:t>
            </a:r>
            <a:endParaRPr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387900" y="885325"/>
            <a:ext cx="8520600" cy="7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(일반적으로) 순환신경망 은닉층의 활성화 함수로 </a:t>
            </a:r>
            <a:br>
              <a:rPr lang="ko"/>
            </a:br>
            <a:r>
              <a:rPr lang="ko"/>
              <a:t>하이퍼볼릭 탄젠트(hyperbolic tangent) 함수인 </a:t>
            </a:r>
            <a:r>
              <a:rPr b="1" lang="ko">
                <a:solidFill>
                  <a:srgbClr val="0000FF"/>
                </a:solidFill>
              </a:rPr>
              <a:t>tanh</a:t>
            </a:r>
            <a:r>
              <a:rPr b="1" baseline="30000" lang="ko">
                <a:solidFill>
                  <a:srgbClr val="0000FF"/>
                </a:solidFill>
              </a:rPr>
              <a:t>2</a:t>
            </a:r>
            <a:r>
              <a:rPr lang="ko"/>
              <a:t>가 많이 사용됨</a:t>
            </a:r>
            <a:endParaRPr/>
          </a:p>
        </p:txBody>
      </p:sp>
      <p:pic>
        <p:nvPicPr>
          <p:cNvPr id="176" name="Google Shape;17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6420" y="2096450"/>
            <a:ext cx="2601375" cy="25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4"/>
          <p:cNvSpPr/>
          <p:nvPr/>
        </p:nvSpPr>
        <p:spPr>
          <a:xfrm>
            <a:off x="364150" y="1877150"/>
            <a:ext cx="2182200" cy="813300"/>
          </a:xfrm>
          <a:prstGeom prst="wedgeRoundRectCallout">
            <a:avLst>
              <a:gd fmla="val 83145" name="adj1"/>
              <a:gd fmla="val 38629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S 모양의 함수라서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시그모이드(sigmoid) 라고도 함.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(헷갈릴수 있으니 그리 부르진 않겠습니다)</a:t>
            </a:r>
            <a:endParaRPr sz="1000"/>
          </a:p>
        </p:txBody>
      </p:sp>
      <p:sp>
        <p:nvSpPr>
          <p:cNvPr id="178" name="Google Shape;178;p24"/>
          <p:cNvSpPr/>
          <p:nvPr/>
        </p:nvSpPr>
        <p:spPr>
          <a:xfrm>
            <a:off x="573525" y="3003850"/>
            <a:ext cx="1497300" cy="1061700"/>
          </a:xfrm>
          <a:prstGeom prst="wedgeRoundRectCallout">
            <a:avLst>
              <a:gd fmla="val 71903" name="adj1"/>
              <a:gd fmla="val -13249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시그모이드 함수는 </a:t>
            </a:r>
            <a:br>
              <a:rPr lang="ko" sz="1000"/>
            </a:br>
            <a:r>
              <a:rPr lang="ko" sz="1000"/>
              <a:t>0 ~ 1 사이의 범위이나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tanh 함수는 </a:t>
            </a:r>
            <a:br>
              <a:rPr lang="ko" sz="1000"/>
            </a:br>
            <a:r>
              <a:rPr b="1" lang="ko" sz="1000">
                <a:solidFill>
                  <a:srgbClr val="980000"/>
                </a:solidFill>
              </a:rPr>
              <a:t>-1 ~ +1 사이의 범위</a:t>
            </a:r>
            <a:r>
              <a:rPr lang="ko" sz="1000"/>
              <a:t>를 가짐</a:t>
            </a:r>
            <a:endParaRPr sz="1000"/>
          </a:p>
        </p:txBody>
      </p:sp>
      <p:sp>
        <p:nvSpPr>
          <p:cNvPr id="179" name="Google Shape;179;p24"/>
          <p:cNvSpPr/>
          <p:nvPr/>
        </p:nvSpPr>
        <p:spPr>
          <a:xfrm>
            <a:off x="6227375" y="2331950"/>
            <a:ext cx="1999800" cy="1369200"/>
          </a:xfrm>
          <a:prstGeom prst="wedgeRoundRectCallout">
            <a:avLst>
              <a:gd fmla="val -82254" name="adj1"/>
              <a:gd fmla="val -2644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순환신경망을 그릴때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활성화 함수를 표시하지 않고 생략하는 경우도 있다. (그림의 복잡함을 피하기 위해)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(그렇다고 활성화 함수가 필요없다는 뜻은 아니다!)</a:t>
            </a:r>
            <a:endParaRPr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838" y="2114938"/>
            <a:ext cx="500062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/>
        </p:nvSpPr>
        <p:spPr>
          <a:xfrm>
            <a:off x="311700" y="90000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이전 타입스텝에 더해지는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가중치 (weight)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1341050" y="2621950"/>
            <a:ext cx="1858800" cy="707400"/>
          </a:xfrm>
          <a:prstGeom prst="wedgeRoundRectCallout">
            <a:avLst>
              <a:gd fmla="val 76939" name="adj1"/>
              <a:gd fmla="val 94084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Wx </a:t>
            </a:r>
            <a:r>
              <a:rPr lang="ko" sz="1000"/>
              <a:t>는 입력에 곱해지는 가중치</a:t>
            </a:r>
            <a:endParaRPr sz="1000"/>
          </a:p>
        </p:txBody>
      </p:sp>
      <p:sp>
        <p:nvSpPr>
          <p:cNvPr id="187" name="Google Shape;187;p25"/>
          <p:cNvSpPr/>
          <p:nvPr/>
        </p:nvSpPr>
        <p:spPr>
          <a:xfrm>
            <a:off x="4820600" y="2740400"/>
            <a:ext cx="1858800" cy="707400"/>
          </a:xfrm>
          <a:prstGeom prst="wedgeRoundRectCallout">
            <a:avLst>
              <a:gd fmla="val -82857" name="adj1"/>
              <a:gd fmla="val 46141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Wh</a:t>
            </a:r>
            <a:r>
              <a:rPr lang="ko" sz="1000"/>
              <a:t> 는 이전 타임스텝의 은닉상태에 곱해지는 가중치</a:t>
            </a:r>
            <a:endParaRPr sz="1000"/>
          </a:p>
        </p:txBody>
      </p:sp>
      <p:sp>
        <p:nvSpPr>
          <p:cNvPr id="188" name="Google Shape;188;p25"/>
          <p:cNvSpPr/>
          <p:nvPr/>
        </p:nvSpPr>
        <p:spPr>
          <a:xfrm>
            <a:off x="1289725" y="4092275"/>
            <a:ext cx="1858800" cy="707400"/>
          </a:xfrm>
          <a:prstGeom prst="wedgeRoundRectCallout">
            <a:avLst>
              <a:gd fmla="val 62314" name="adj1"/>
              <a:gd fmla="val -32404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뉴런마다 하나의</a:t>
            </a:r>
            <a:r>
              <a:rPr b="1" lang="ko" sz="1000"/>
              <a:t> 절편(bias) </a:t>
            </a:r>
            <a:r>
              <a:rPr lang="ko" sz="1000"/>
              <a:t>가 포함되지만 여기선 따로 표시하진 않습니다</a:t>
            </a:r>
            <a:endParaRPr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6"/>
          <p:cNvPicPr preferRelativeResize="0"/>
          <p:nvPr/>
        </p:nvPicPr>
        <p:blipFill rotWithShape="1">
          <a:blip r:embed="rId3">
            <a:alphaModFix/>
          </a:blip>
          <a:srcRect b="0" l="0" r="59998" t="0"/>
          <a:stretch/>
        </p:blipFill>
        <p:spPr>
          <a:xfrm>
            <a:off x="152400" y="1137625"/>
            <a:ext cx="3535775" cy="29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/>
          <p:nvPr/>
        </p:nvSpPr>
        <p:spPr>
          <a:xfrm>
            <a:off x="3688175" y="2204925"/>
            <a:ext cx="1516200" cy="601200"/>
          </a:xfrm>
          <a:prstGeom prst="rightArrow">
            <a:avLst>
              <a:gd fmla="val 58675" name="adj1"/>
              <a:gd fmla="val 68179" name="adj2"/>
            </a:avLst>
          </a:prstGeom>
          <a:solidFill>
            <a:srgbClr val="00FFFF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타임스텝으로 펼침</a:t>
            </a:r>
            <a:endParaRPr sz="1100"/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 b="0" l="56997" r="0" t="0"/>
          <a:stretch/>
        </p:blipFill>
        <p:spPr>
          <a:xfrm>
            <a:off x="5342851" y="1290025"/>
            <a:ext cx="3801151" cy="294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/>
          <p:nvPr/>
        </p:nvSpPr>
        <p:spPr>
          <a:xfrm>
            <a:off x="7285200" y="407400"/>
            <a:ext cx="1858800" cy="707400"/>
          </a:xfrm>
          <a:prstGeom prst="wedgeRoundRectCallout">
            <a:avLst>
              <a:gd fmla="val -64306" name="adj1"/>
              <a:gd fmla="val 48388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최초 타임스텝에 사용되는 이전 은닉상태 h0 는 어케 ?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→ 모두 0 으로 초기화 됩니다.</a:t>
            </a:r>
            <a:endParaRPr sz="1000"/>
          </a:p>
        </p:txBody>
      </p:sp>
      <p:sp>
        <p:nvSpPr>
          <p:cNvPr id="197" name="Google Shape;197;p26"/>
          <p:cNvSpPr txBox="1"/>
          <p:nvPr/>
        </p:nvSpPr>
        <p:spPr>
          <a:xfrm>
            <a:off x="152400" y="145800"/>
            <a:ext cx="5503800" cy="12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타임스텝으로 셀을 나누어 그리면 아래와 같다.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순환신경망을 타임스텝마다 스릴수 있는데 이런 그림을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'셀을 타임스텝으로 펼쳤다'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라고 말합니다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/>
        </p:nvSpPr>
        <p:spPr>
          <a:xfrm>
            <a:off x="311700" y="292625"/>
            <a:ext cx="8520600" cy="707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셀의 가중치 크기 (개수) 계산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311700" y="1096575"/>
            <a:ext cx="8520600" cy="7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"복잡한 모델을 배울수록 가중치(weight) 개수를 계산해보면, 그 모델을 잘 이해하고 있는지 알수 있다"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4" name="Google Shape;20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4825" y="1739488"/>
            <a:ext cx="2132216" cy="2963025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5" name="Google Shape;205;p27"/>
          <p:cNvSpPr txBox="1"/>
          <p:nvPr/>
        </p:nvSpPr>
        <p:spPr>
          <a:xfrm>
            <a:off x="498450" y="2087950"/>
            <a:ext cx="5061000" cy="114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생각해보자 → 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가령) 순환층에 입력되는 특성(feature) 의 개수가 4개.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순환층의 뉴런이 3개 인 경우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498450" y="3459550"/>
            <a:ext cx="50610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우전  </a:t>
            </a:r>
            <a:r>
              <a:rPr b="1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Wx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는 입력층과 순환층이 모두 '완전 연결'되기 때문에</a:t>
            </a:r>
            <a:b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Wx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=&gt; 4 x 3 = 12개</a:t>
            </a:r>
            <a:endParaRPr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275" y="169750"/>
            <a:ext cx="2070875" cy="2877774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12" name="Google Shape;21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0875" y="169750"/>
            <a:ext cx="1768675" cy="328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8"/>
          <p:cNvSpPr txBox="1"/>
          <p:nvPr/>
        </p:nvSpPr>
        <p:spPr>
          <a:xfrm>
            <a:off x="5174775" y="352675"/>
            <a:ext cx="3915600" cy="3284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타임스텝에 재사용되는 은닉상태를 위한 </a:t>
            </a:r>
            <a:r>
              <a:rPr b="1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="1" baseline="-25000"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의 크기는?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순환층에 있는 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첫번째 뉴런(r1)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의 은닉상태가 다음 타임스텝에 재사용될때  </a:t>
            </a:r>
            <a:r>
              <a:rPr lang="ko">
                <a:solidFill>
                  <a:srgbClr val="695D46"/>
                </a:solidFill>
                <a:highlight>
                  <a:srgbClr val="FFFF00"/>
                </a:highlight>
                <a:latin typeface="Open Sans"/>
                <a:ea typeface="Open Sans"/>
                <a:cs typeface="Open Sans"/>
                <a:sym typeface="Open Sans"/>
              </a:rPr>
              <a:t>첫번째, 두번째, 세번째 뉴런에 모두 전달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된다.  (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왼쪽 그림에서 붉은색으로 표시</a:t>
            </a: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).  즉 이전 타임스텝의 은닉상태는 다음 타임스텝의 뉴런에 '완전연결된다'</a:t>
            </a:r>
            <a:endParaRPr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따라서 이 순환층에서 </a:t>
            </a:r>
            <a:r>
              <a:rPr lang="ko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은닉상태를 위한 가중치</a:t>
            </a:r>
            <a:endParaRPr>
              <a:solidFill>
                <a:srgbClr val="98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Wₕ  =&gt; 3 x 3 = 9개</a:t>
            </a:r>
            <a:endParaRPr sz="1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4475" y="2123550"/>
            <a:ext cx="1728503" cy="2402001"/>
          </a:xfrm>
          <a:prstGeom prst="rect">
            <a:avLst/>
          </a:prstGeom>
          <a:noFill/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9" name="Google Shape;219;p29"/>
          <p:cNvSpPr/>
          <p:nvPr/>
        </p:nvSpPr>
        <p:spPr>
          <a:xfrm>
            <a:off x="5779275" y="1822200"/>
            <a:ext cx="366300" cy="3345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0" name="Google Shape;220;p29"/>
          <p:cNvCxnSpPr>
            <a:stCxn id="219" idx="5"/>
          </p:cNvCxnSpPr>
          <p:nvPr/>
        </p:nvCxnSpPr>
        <p:spPr>
          <a:xfrm>
            <a:off x="6091932" y="2107714"/>
            <a:ext cx="545100" cy="657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9"/>
          <p:cNvCxnSpPr>
            <a:stCxn id="219" idx="5"/>
          </p:cNvCxnSpPr>
          <p:nvPr/>
        </p:nvCxnSpPr>
        <p:spPr>
          <a:xfrm>
            <a:off x="6091932" y="2107714"/>
            <a:ext cx="568800" cy="12546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9"/>
          <p:cNvCxnSpPr>
            <a:stCxn id="219" idx="5"/>
          </p:cNvCxnSpPr>
          <p:nvPr/>
        </p:nvCxnSpPr>
        <p:spPr>
          <a:xfrm>
            <a:off x="6091932" y="2107714"/>
            <a:ext cx="545100" cy="17163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9"/>
          <p:cNvSpPr/>
          <p:nvPr/>
        </p:nvSpPr>
        <p:spPr>
          <a:xfrm>
            <a:off x="6868625" y="1101225"/>
            <a:ext cx="1859100" cy="1006500"/>
          </a:xfrm>
          <a:prstGeom prst="wedgeRoundRectCallout">
            <a:avLst>
              <a:gd fmla="val -57930" name="adj1"/>
              <a:gd fmla="val 6505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다시 말하지만. 일반적으로 그림을 그릴때, bias 는 생략하곤 한다.</a:t>
            </a:r>
            <a:endParaRPr sz="1000"/>
          </a:p>
        </p:txBody>
      </p:sp>
      <p:sp>
        <p:nvSpPr>
          <p:cNvPr id="224" name="Google Shape;224;p29"/>
          <p:cNvSpPr txBox="1"/>
          <p:nvPr/>
        </p:nvSpPr>
        <p:spPr>
          <a:xfrm>
            <a:off x="373175" y="337500"/>
            <a:ext cx="44934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각 뉴런마다 하나의 절편 (bias)이 있다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bias 에도 weight 가 있으니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이 개수는 뉴런의 개수만큼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3개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가 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/>
          <p:nvPr/>
        </p:nvSpPr>
        <p:spPr>
          <a:xfrm>
            <a:off x="806450" y="175250"/>
            <a:ext cx="6377100" cy="10389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rgbClr val="595959"/>
                </a:solidFill>
              </a:rPr>
              <a:t>순환층의 모델 파라미터 개수 = Wx + Wh + 절편 </a:t>
            </a:r>
            <a:endParaRPr sz="2100">
              <a:solidFill>
                <a:srgbClr val="595959"/>
              </a:solidFill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4008175" y="1214150"/>
            <a:ext cx="1065600" cy="549300"/>
          </a:xfrm>
          <a:prstGeom prst="wedgeRoundRectCallout">
            <a:avLst>
              <a:gd fmla="val 46253" name="adj1"/>
              <a:gd fmla="val -109166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입력 가중치</a:t>
            </a:r>
            <a:endParaRPr sz="1100"/>
          </a:p>
        </p:txBody>
      </p:sp>
      <p:sp>
        <p:nvSpPr>
          <p:cNvPr id="231" name="Google Shape;231;p30"/>
          <p:cNvSpPr/>
          <p:nvPr/>
        </p:nvSpPr>
        <p:spPr>
          <a:xfrm>
            <a:off x="5329950" y="1214150"/>
            <a:ext cx="1258800" cy="549300"/>
          </a:xfrm>
          <a:prstGeom prst="wedgeRoundRectCallout">
            <a:avLst>
              <a:gd fmla="val -10433" name="adj1"/>
              <a:gd fmla="val -101907" name="adj2"/>
              <a:gd fmla="val 0" name="adj3"/>
            </a:avLst>
          </a:prstGeom>
          <a:solidFill>
            <a:srgbClr val="FFFFFF">
              <a:alpha val="81129"/>
            </a:srgbClr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은닉상태 가중치</a:t>
            </a:r>
            <a:endParaRPr sz="1100"/>
          </a:p>
        </p:txBody>
      </p:sp>
      <p:sp>
        <p:nvSpPr>
          <p:cNvPr id="232" name="Google Shape;232;p30"/>
          <p:cNvSpPr txBox="1"/>
          <p:nvPr/>
        </p:nvSpPr>
        <p:spPr>
          <a:xfrm>
            <a:off x="421675" y="1967200"/>
            <a:ext cx="8520600" cy="18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그렇다면 모델 파라미터 개수는?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따라서 이 순환층은 모두 </a:t>
            </a:r>
            <a:r>
              <a:rPr b="1"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12 + 9 + 3 = 24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개의 모델 파라미터를 갖고 있다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1718375" y="3346575"/>
            <a:ext cx="5532300" cy="812100"/>
          </a:xfrm>
          <a:prstGeom prst="wedgeRoundRectCallout">
            <a:avLst>
              <a:gd fmla="val -15823" name="adj1"/>
              <a:gd fmla="val -83416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순환층을 하나의 셀로 표현하는 이유는!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은닉상태가 모든 뉴런에 순환되기 때문에 완전연결 신경망 처럼 그림으로 표현하기에는 너무 복잡하다</a:t>
            </a:r>
            <a:endParaRPr sz="1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순환층의 '입력' 과 '출력'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39" name="Google Shape;239;p31"/>
          <p:cNvSpPr txBox="1"/>
          <p:nvPr/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CNN(합성곱 신경망) 의 전형적인 입력은 하나의 샘플이 3개 차원을 가졌었다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(height, width, channel)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순환층의 입력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은 일반적으로 샘플마다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2개의 차원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을 가진다.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하나의 샘플을 하나의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시퀀스(Sequence)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라고도 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시퀀스 안에는 여러개의 아이템이 들어있다.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시퀀스의 길이(아이템 개수?) 가 바로 </a:t>
            </a:r>
            <a:r>
              <a:rPr b="1"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타임스텝의 길이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가 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2"/>
          <p:cNvSpPr txBox="1"/>
          <p:nvPr/>
        </p:nvSpPr>
        <p:spPr>
          <a:xfrm>
            <a:off x="311700" y="64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예 (입력)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311700" y="673125"/>
            <a:ext cx="85206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아래 샘플은 4개의 단어 (4개의 아이템) 으로 이루어져 있다.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Consolas"/>
                <a:ea typeface="Consolas"/>
                <a:cs typeface="Consolas"/>
                <a:sym typeface="Consolas"/>
              </a:rPr>
              <a:t>"I am a boy" =&gt; "I", "am", "a", "boy"</a:t>
            </a:r>
            <a:b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각 단어를 3개의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숫자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로 표현한다고 가정해보자.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6" name="Google Shape;246;p32"/>
          <p:cNvPicPr preferRelativeResize="0"/>
          <p:nvPr/>
        </p:nvPicPr>
        <p:blipFill rotWithShape="1">
          <a:blip r:embed="rId3">
            <a:alphaModFix/>
          </a:blip>
          <a:srcRect b="0" l="0" r="29209" t="0"/>
          <a:stretch/>
        </p:blipFill>
        <p:spPr>
          <a:xfrm>
            <a:off x="1136975" y="2070525"/>
            <a:ext cx="5197750" cy="21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2"/>
          <p:cNvSpPr/>
          <p:nvPr/>
        </p:nvSpPr>
        <p:spPr>
          <a:xfrm>
            <a:off x="404325" y="4451425"/>
            <a:ext cx="1838700" cy="570000"/>
          </a:xfrm>
          <a:prstGeom prst="wedgeRoundRectCallout">
            <a:avLst>
              <a:gd fmla="val -2165" name="adj1"/>
              <a:gd fmla="val -79687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숫자 3개로 하나의 </a:t>
            </a:r>
            <a:r>
              <a:rPr b="1" lang="ko" sz="1000"/>
              <a:t>단어를 표현</a:t>
            </a:r>
            <a:r>
              <a:rPr lang="ko" sz="1000"/>
              <a:t> 한다고 하자. </a:t>
            </a:r>
            <a:endParaRPr sz="1000"/>
          </a:p>
        </p:txBody>
      </p:sp>
      <p:pic>
        <p:nvPicPr>
          <p:cNvPr id="248" name="Google Shape;248;p32"/>
          <p:cNvPicPr preferRelativeResize="0"/>
          <p:nvPr/>
        </p:nvPicPr>
        <p:blipFill rotWithShape="1">
          <a:blip r:embed="rId3">
            <a:alphaModFix/>
          </a:blip>
          <a:srcRect b="0" l="78905" r="0" t="0"/>
          <a:stretch/>
        </p:blipFill>
        <p:spPr>
          <a:xfrm>
            <a:off x="6999600" y="2130575"/>
            <a:ext cx="1548825" cy="215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/>
          <p:nvPr/>
        </p:nvSpPr>
        <p:spPr>
          <a:xfrm>
            <a:off x="7895625" y="2435325"/>
            <a:ext cx="1190700" cy="570000"/>
          </a:xfrm>
          <a:prstGeom prst="wedgeRoundRectCallout">
            <a:avLst>
              <a:gd fmla="val -49345" name="adj1"/>
              <a:gd fmla="val 69829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/>
              <a:t>단어를 표현</a:t>
            </a:r>
            <a:r>
              <a:rPr lang="ko" sz="1000"/>
              <a:t> 하는 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숫자 개수</a:t>
            </a:r>
            <a:endParaRPr sz="1000"/>
          </a:p>
        </p:txBody>
      </p:sp>
      <p:sp>
        <p:nvSpPr>
          <p:cNvPr id="250" name="Google Shape;250;p32"/>
          <p:cNvSpPr/>
          <p:nvPr/>
        </p:nvSpPr>
        <p:spPr>
          <a:xfrm>
            <a:off x="6878100" y="611100"/>
            <a:ext cx="1838700" cy="891300"/>
          </a:xfrm>
          <a:prstGeom prst="wedgeRoundRectCallout">
            <a:avLst>
              <a:gd fmla="val -62499" name="adj1"/>
              <a:gd fmla="val 8031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아이템의 개수가 곧 타임스텝의 길이(개수) 가 된다.</a:t>
            </a:r>
            <a:endParaRPr sz="1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type="title"/>
          </p:nvPr>
        </p:nvSpPr>
        <p:spPr>
          <a:xfrm>
            <a:off x="311700" y="1781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RNN 의 입력 (정리)</a:t>
            </a:r>
            <a:endParaRPr/>
          </a:p>
        </p:txBody>
      </p:sp>
      <p:sp>
        <p:nvSpPr>
          <p:cNvPr id="256" name="Google Shape;256;p33"/>
          <p:cNvSpPr txBox="1"/>
          <p:nvPr>
            <p:ph idx="1" type="body"/>
          </p:nvPr>
        </p:nvSpPr>
        <p:spPr>
          <a:xfrm>
            <a:off x="311700" y="920400"/>
            <a:ext cx="8520600" cy="47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RNN 입력데이터에는 반드시 시간순서(time step) 정보가 있어야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7" name="Google Shape;25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27950"/>
            <a:ext cx="8839202" cy="2687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4"/>
          <p:cNvSpPr txBox="1"/>
          <p:nvPr/>
        </p:nvSpPr>
        <p:spPr>
          <a:xfrm>
            <a:off x="311700" y="32667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예 (출력)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263" name="Google Shape;26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8475" y="2070925"/>
            <a:ext cx="6640030" cy="27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4"/>
          <p:cNvSpPr txBox="1"/>
          <p:nvPr/>
        </p:nvSpPr>
        <p:spPr>
          <a:xfrm>
            <a:off x="311700" y="1266325"/>
            <a:ext cx="85206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위 입력이 순환층을 통과하면 두번째, 세번째 차원이 사라지고 </a:t>
            </a:r>
            <a:r>
              <a:rPr lang="ko" sz="1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순환층의 뉴런 개수만큼 출력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된다.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6050" y="1561675"/>
            <a:ext cx="6640030" cy="27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5"/>
          <p:cNvSpPr/>
          <p:nvPr/>
        </p:nvSpPr>
        <p:spPr>
          <a:xfrm>
            <a:off x="500375" y="526250"/>
            <a:ext cx="3005100" cy="891300"/>
          </a:xfrm>
          <a:prstGeom prst="wedgeRoundRectCallout">
            <a:avLst>
              <a:gd fmla="val 32486" name="adj1"/>
              <a:gd fmla="val 84270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입력: 하나의 샘플의 </a:t>
            </a:r>
            <a:br>
              <a:rPr lang="ko" sz="1100"/>
            </a:br>
            <a:r>
              <a:rPr b="1" lang="ko" sz="1100">
                <a:solidFill>
                  <a:srgbClr val="FF00FF"/>
                </a:solidFill>
              </a:rPr>
              <a:t>시퀀스 길이(여기에서는 단어개수) x 단어표현</a:t>
            </a:r>
            <a:r>
              <a:rPr lang="ko" sz="1100"/>
              <a:t> 의</a:t>
            </a:r>
            <a:r>
              <a:rPr b="1" lang="ko" sz="1100">
                <a:solidFill>
                  <a:srgbClr val="FF00FF"/>
                </a:solidFill>
              </a:rPr>
              <a:t> 2차원 배열 </a:t>
            </a:r>
            <a:r>
              <a:rPr lang="ko" sz="1100"/>
              <a:t>이..</a:t>
            </a:r>
            <a:endParaRPr sz="1100"/>
          </a:p>
        </p:txBody>
      </p:sp>
      <p:sp>
        <p:nvSpPr>
          <p:cNvPr id="271" name="Google Shape;271;p35"/>
          <p:cNvSpPr/>
          <p:nvPr/>
        </p:nvSpPr>
        <p:spPr>
          <a:xfrm>
            <a:off x="3920500" y="856900"/>
            <a:ext cx="1647300" cy="806700"/>
          </a:xfrm>
          <a:prstGeom prst="wedgeRoundRectCallout">
            <a:avLst>
              <a:gd fmla="val -5641" name="adj1"/>
              <a:gd fmla="val 7735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순환층을 통과하면..</a:t>
            </a:r>
            <a:endParaRPr sz="1100"/>
          </a:p>
        </p:txBody>
      </p:sp>
      <p:sp>
        <p:nvSpPr>
          <p:cNvPr id="272" name="Google Shape;272;p35"/>
          <p:cNvSpPr/>
          <p:nvPr/>
        </p:nvSpPr>
        <p:spPr>
          <a:xfrm>
            <a:off x="5846800" y="526250"/>
            <a:ext cx="2318400" cy="806700"/>
          </a:xfrm>
          <a:prstGeom prst="wedgeRoundRectCallout">
            <a:avLst>
              <a:gd fmla="val -5641" name="adj1"/>
              <a:gd fmla="val 77352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0000FF"/>
                </a:solidFill>
              </a:rPr>
              <a:t>출력: </a:t>
            </a:r>
            <a:r>
              <a:rPr b="1" lang="ko" sz="1100">
                <a:solidFill>
                  <a:srgbClr val="0000FF"/>
                </a:solidFill>
                <a:highlight>
                  <a:srgbClr val="FFFF00"/>
                </a:highlight>
              </a:rPr>
              <a:t>1차원 배열</a:t>
            </a:r>
            <a:r>
              <a:rPr lang="ko" sz="1100"/>
              <a:t>로 바뀐다.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/>
              <a:t>1차원 배열의 크기는 </a:t>
            </a:r>
            <a:r>
              <a:rPr b="1" lang="ko" sz="1100">
                <a:solidFill>
                  <a:srgbClr val="0000FF"/>
                </a:solidFill>
              </a:rPr>
              <a:t>순환층의 뉴런개수</a:t>
            </a:r>
            <a:r>
              <a:rPr lang="ko" sz="1100"/>
              <a:t>에 의해 결정</a:t>
            </a:r>
            <a:endParaRPr sz="1100"/>
          </a:p>
        </p:txBody>
      </p:sp>
      <p:sp>
        <p:nvSpPr>
          <p:cNvPr id="273" name="Google Shape;273;p35"/>
          <p:cNvSpPr/>
          <p:nvPr/>
        </p:nvSpPr>
        <p:spPr>
          <a:xfrm>
            <a:off x="2079475" y="2172825"/>
            <a:ext cx="1748450" cy="950625"/>
          </a:xfrm>
          <a:custGeom>
            <a:rect b="b" l="l" r="r" t="t"/>
            <a:pathLst>
              <a:path extrusionOk="0" h="38025" w="69938">
                <a:moveTo>
                  <a:pt x="43456" y="0"/>
                </a:moveTo>
                <a:lnTo>
                  <a:pt x="0" y="20710"/>
                </a:lnTo>
                <a:lnTo>
                  <a:pt x="0" y="30216"/>
                </a:lnTo>
                <a:lnTo>
                  <a:pt x="25802" y="38025"/>
                </a:lnTo>
                <a:lnTo>
                  <a:pt x="69938" y="17315"/>
                </a:lnTo>
                <a:lnTo>
                  <a:pt x="69259" y="6451"/>
                </a:lnTo>
                <a:close/>
              </a:path>
            </a:pathLst>
          </a:custGeom>
          <a:noFill/>
          <a:ln cap="flat" cmpd="sng" w="28575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4" name="Google Shape;274;p35"/>
          <p:cNvSpPr/>
          <p:nvPr/>
        </p:nvSpPr>
        <p:spPr>
          <a:xfrm>
            <a:off x="5864950" y="2070975"/>
            <a:ext cx="1315575" cy="848775"/>
          </a:xfrm>
          <a:custGeom>
            <a:rect b="b" l="l" r="r" t="t"/>
            <a:pathLst>
              <a:path extrusionOk="0" h="33951" w="52623">
                <a:moveTo>
                  <a:pt x="339" y="22408"/>
                </a:moveTo>
                <a:lnTo>
                  <a:pt x="0" y="33951"/>
                </a:lnTo>
                <a:lnTo>
                  <a:pt x="52623" y="10864"/>
                </a:lnTo>
                <a:lnTo>
                  <a:pt x="52284" y="0"/>
                </a:lnTo>
                <a:close/>
              </a:path>
            </a:pathLst>
          </a:cu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75" name="Google Shape;275;p35"/>
          <p:cNvSpPr/>
          <p:nvPr/>
        </p:nvSpPr>
        <p:spPr>
          <a:xfrm>
            <a:off x="7611750" y="2134250"/>
            <a:ext cx="1457100" cy="1520400"/>
          </a:xfrm>
          <a:prstGeom prst="wedgeRoundRectCallout">
            <a:avLst>
              <a:gd fmla="val -78414" name="adj1"/>
              <a:gd fmla="val -94016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80000"/>
                </a:solidFill>
              </a:rPr>
              <a:t>왜 ?</a:t>
            </a:r>
            <a:endParaRPr sz="1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80000"/>
                </a:solidFill>
              </a:rPr>
              <a:t>여러번 타임스텝을 밟으면 여러번 출력되어야 하는 형태가 되어야 하는거 아닌가??</a:t>
            </a:r>
            <a:endParaRPr sz="1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8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80000"/>
                </a:solidFill>
              </a:rPr>
              <a:t>↓ 다음 설명!</a:t>
            </a:r>
            <a:endParaRPr sz="11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6"/>
          <p:cNvSpPr txBox="1"/>
          <p:nvPr/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순환층은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마지막 타임스텝의 은닉상태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만 </a:t>
            </a:r>
            <a:r>
              <a:rPr b="1" lang="ko" sz="3600">
                <a:solidFill>
                  <a:srgbClr val="0000FF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출력</a:t>
            </a:r>
            <a:r>
              <a:rPr b="1" lang="ko" sz="3600">
                <a:solidFill>
                  <a:srgbClr val="EF6C0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으로 내보낸다!</a:t>
            </a:r>
            <a:endParaRPr b="1" sz="3600">
              <a:solidFill>
                <a:srgbClr val="EF6C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pic>
        <p:nvPicPr>
          <p:cNvPr id="281" name="Google Shape;2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975" y="2335175"/>
            <a:ext cx="4335656" cy="2640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6"/>
          <p:cNvSpPr txBox="1"/>
          <p:nvPr/>
        </p:nvSpPr>
        <p:spPr>
          <a:xfrm>
            <a:off x="311700" y="1680550"/>
            <a:ext cx="85206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아래 그림에선 이러한 특징을 표현하기 위헤 셀의 출력을 점선으로 표시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h</a:t>
            </a:r>
            <a:r>
              <a:rPr b="1" baseline="-25000" lang="ko" sz="1800">
                <a:solidFill>
                  <a:srgbClr val="980000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  <a:r>
              <a:rPr lang="ko" sz="1800">
                <a:solidFill>
                  <a:srgbClr val="695D46"/>
                </a:solidFill>
                <a:latin typeface="Open Sans"/>
                <a:ea typeface="Open Sans"/>
                <a:cs typeface="Open Sans"/>
                <a:sym typeface="Open Sans"/>
              </a:rPr>
              <a:t> 는 마지막 타임스텝의 은닉 상태임을 나타내기 위함.</a:t>
            </a:r>
            <a:endParaRPr sz="1800">
              <a:solidFill>
                <a:srgbClr val="695D4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36"/>
          <p:cNvSpPr/>
          <p:nvPr/>
        </p:nvSpPr>
        <p:spPr>
          <a:xfrm>
            <a:off x="118550" y="3011875"/>
            <a:ext cx="957600" cy="810000"/>
          </a:xfrm>
          <a:prstGeom prst="wedgeRoundRectCallout">
            <a:avLst>
              <a:gd fmla="val -5840" name="adj1"/>
              <a:gd fmla="val -94506" name="adj2"/>
              <a:gd fmla="val 0" name="adj3"/>
            </a:avLst>
          </a:prstGeom>
          <a:solidFill>
            <a:srgbClr val="FFFFFF">
              <a:alpha val="63059"/>
            </a:srgbClr>
          </a:solidFill>
          <a:ln cap="flat" cmpd="sng" w="9525">
            <a:solidFill>
              <a:srgbClr val="695D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980000"/>
                </a:solidFill>
              </a:rPr>
              <a:t>h</a:t>
            </a:r>
            <a:r>
              <a:rPr baseline="-25000" lang="ko" sz="1100">
                <a:solidFill>
                  <a:srgbClr val="980000"/>
                </a:solidFill>
              </a:rPr>
              <a:t>f</a:t>
            </a:r>
            <a:r>
              <a:rPr lang="ko" sz="1100">
                <a:solidFill>
                  <a:srgbClr val="980000"/>
                </a:solidFill>
              </a:rPr>
              <a:t> 기억!</a:t>
            </a:r>
            <a:endParaRPr sz="1100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