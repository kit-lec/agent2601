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81D482-A8FF-4058-A269-61D0BD7C616F}">
  <a:tblStyle styleId="{6A81D482-A8FF-4058-A269-61D0BD7C61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f66648a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f66648a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f66648a1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f66648a1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f66648a1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f66648a1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f66648a1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f66648a1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1447820" y="4829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{6A81D482-A8FF-4058-A269-61D0BD7C616F}</a:tableStyleId>
              </a:tblPr>
              <a:tblGrid>
                <a:gridCol w="995875"/>
                <a:gridCol w="2241450"/>
                <a:gridCol w="2502500"/>
              </a:tblGrid>
              <a:tr h="4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1)   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TP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 (True Positive)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2)         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FP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 (False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3)      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FN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(False Negative)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4)      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TN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(True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55" name="Google Shape;55;p13"/>
          <p:cNvSpPr txBox="1"/>
          <p:nvPr/>
        </p:nvSpPr>
        <p:spPr>
          <a:xfrm>
            <a:off x="3601475" y="86538"/>
            <a:ext cx="24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Actual Values  (실제 값)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 rot="-5400000">
            <a:off x="-355355" y="1480736"/>
            <a:ext cx="30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Predicted Values (예측,판정값)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318625" y="3363763"/>
            <a:ext cx="8139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accuracy( 정확도 ) : </a:t>
            </a:r>
            <a:r>
              <a:rPr lang="ko">
                <a:solidFill>
                  <a:schemeClr val="dk1"/>
                </a:solidFill>
              </a:rPr>
              <a:t> 전체 케이스 중 '맞게(True) 가 얼마나 되느냐?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(TP + TN)  /  (TP + TN + FN + FP)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presicion (정밀도) :</a:t>
            </a:r>
            <a:r>
              <a:rPr lang="ko">
                <a:solidFill>
                  <a:schemeClr val="dk1"/>
                </a:solidFill>
              </a:rPr>
              <a:t> positive 로 판정한것들 중 제대로 맞게 (True) 가 얼마나 되는가?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        TP   / (TP + FP)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recall (재현률) </a:t>
            </a:r>
            <a:r>
              <a:rPr lang="ko">
                <a:solidFill>
                  <a:schemeClr val="dk1"/>
                </a:solidFill>
              </a:rPr>
              <a:t>: 실제 positive 를 제대로 맞게 (True) 판정한게 얼마나 되는가?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         TP   /  (TP + FN)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7150" y="97375"/>
            <a:ext cx="2601600" cy="400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Confusion Matrix (</a:t>
            </a:r>
            <a:r>
              <a:rPr b="1" lang="ko"/>
              <a:t>오차행렬)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Google Shape;63;p14"/>
          <p:cNvGraphicFramePr/>
          <p:nvPr/>
        </p:nvGraphicFramePr>
        <p:xfrm>
          <a:off x="1552700" y="38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{6A81D482-A8FF-4058-A269-61D0BD7C616F}</a:tableStyleId>
              </a:tblPr>
              <a:tblGrid>
                <a:gridCol w="995875"/>
                <a:gridCol w="2241450"/>
                <a:gridCol w="2502500"/>
              </a:tblGrid>
              <a:tr h="4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실제로 '암'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실제로는 '암' 아님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'암'으로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판정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1)</a:t>
                      </a:r>
                      <a:r>
                        <a:rPr lang="ko">
                          <a:solidFill>
                            <a:srgbClr val="000000"/>
                          </a:solidFill>
                        </a:rPr>
                        <a:t>     </a:t>
                      </a:r>
                      <a:r>
                        <a:rPr lang="ko" sz="3600">
                          <a:solidFill>
                            <a:srgbClr val="000000"/>
                          </a:solidFill>
                        </a:rPr>
                        <a:t>TP</a:t>
                      </a:r>
                      <a:endParaRPr sz="36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     (True Positive)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/>
                        <a:t>2)           </a:t>
                      </a:r>
                      <a:r>
                        <a:rPr lang="ko" sz="3600">
                          <a:solidFill>
                            <a:srgbClr val="000000"/>
                          </a:solidFill>
                        </a:rPr>
                        <a:t>FP</a:t>
                      </a:r>
                      <a:endParaRPr sz="36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     (False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'암'이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아니라고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판정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/>
                        <a:t>3)        </a:t>
                      </a:r>
                      <a:r>
                        <a:rPr lang="ko" sz="3600">
                          <a:solidFill>
                            <a:srgbClr val="000000"/>
                          </a:solidFill>
                        </a:rPr>
                        <a:t>FN</a:t>
                      </a:r>
                      <a:endParaRPr sz="36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(False Negative)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4)        </a:t>
                      </a:r>
                      <a:r>
                        <a:rPr lang="ko" sz="3600">
                          <a:solidFill>
                            <a:srgbClr val="000000"/>
                          </a:solidFill>
                        </a:rPr>
                        <a:t>TN</a:t>
                      </a:r>
                      <a:endParaRPr sz="36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(True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64" name="Google Shape;64;p14"/>
          <p:cNvSpPr txBox="1"/>
          <p:nvPr/>
        </p:nvSpPr>
        <p:spPr>
          <a:xfrm>
            <a:off x="3721525" y="26400"/>
            <a:ext cx="24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Actual Values  (실제 값)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 rot="-5400000">
            <a:off x="-198375" y="1420612"/>
            <a:ext cx="30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Predicted Values (예측,판정값)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1295100" y="3604450"/>
            <a:ext cx="7315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accuracy( 정확도 )</a:t>
            </a:r>
            <a:r>
              <a:rPr lang="ko"/>
              <a:t> : 전체 케이스 중 ‘맞게(True) 가 얼마나 되냐?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</a:t>
            </a:r>
            <a:r>
              <a:rPr lang="ko">
                <a:solidFill>
                  <a:srgbClr val="000000"/>
                </a:solidFill>
              </a:rPr>
              <a:t>(TP + TN) / (TP + TN + FN + FP)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</a:rPr>
              <a:t>presicion (정밀도) :</a:t>
            </a:r>
            <a:r>
              <a:rPr lang="ko">
                <a:solidFill>
                  <a:srgbClr val="000000"/>
                </a:solidFill>
              </a:rPr>
              <a:t> positive 로 판정한것들 중 제대로 맞게(True) 가 얼마나 되나?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      TP / (TP + FP)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</a:rPr>
              <a:t>recall (재현률)  </a:t>
            </a:r>
            <a:r>
              <a:rPr lang="ko">
                <a:solidFill>
                  <a:srgbClr val="000000"/>
                </a:solidFill>
              </a:rPr>
              <a:t>: 실제 positive 를 제대로 맞게 (True) 판정한게 얼마나 되는가?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      TP / (TP + FN)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67150" y="2160275"/>
            <a:ext cx="958800" cy="1164900"/>
          </a:xfrm>
          <a:prstGeom prst="wedgeRoundRectCallout">
            <a:avLst>
              <a:gd fmla="val 74301" name="adj1"/>
              <a:gd fmla="val 3954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이 경우 3번이 심각하다.</a:t>
            </a:r>
            <a:endParaRPr sz="900"/>
          </a:p>
        </p:txBody>
      </p:sp>
      <p:sp>
        <p:nvSpPr>
          <p:cNvPr id="68" name="Google Shape;68;p14"/>
          <p:cNvSpPr/>
          <p:nvPr/>
        </p:nvSpPr>
        <p:spPr>
          <a:xfrm>
            <a:off x="67150" y="3670700"/>
            <a:ext cx="958800" cy="1164900"/>
          </a:xfrm>
          <a:prstGeom prst="wedgeRoundRectCallout">
            <a:avLst>
              <a:gd fmla="val 74301" name="adj1"/>
              <a:gd fmla="val 3954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심각한 상황 3 FN 을 줄여야 하는게 목표다 이 경우 recall 이 중요하다</a:t>
            </a:r>
            <a:endParaRPr sz="900"/>
          </a:p>
        </p:txBody>
      </p:sp>
      <p:sp>
        <p:nvSpPr>
          <p:cNvPr id="69" name="Google Shape;69;p14"/>
          <p:cNvSpPr/>
          <p:nvPr/>
        </p:nvSpPr>
        <p:spPr>
          <a:xfrm>
            <a:off x="8078175" y="2891175"/>
            <a:ext cx="958800" cy="1164900"/>
          </a:xfrm>
          <a:prstGeom prst="wedgeRoundRectCallout">
            <a:avLst>
              <a:gd fmla="val -72898" name="adj1"/>
              <a:gd fmla="val 15656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recall 을 높이려면??</a:t>
            </a:r>
            <a:br>
              <a:rPr lang="ko" sz="900"/>
            </a:br>
            <a:r>
              <a:rPr lang="ko" sz="900"/>
              <a:t>암 판정을 높이면 된다.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(과잉진료)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000000"/>
                </a:solidFill>
              </a:rPr>
              <a:t>precision 은 떨어진다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Google Shape;74;p15"/>
          <p:cNvGraphicFramePr/>
          <p:nvPr/>
        </p:nvGraphicFramePr>
        <p:xfrm>
          <a:off x="1552700" y="38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{6A81D482-A8FF-4058-A269-61D0BD7C616F}</a:tableStyleId>
              </a:tblPr>
              <a:tblGrid>
                <a:gridCol w="995875"/>
                <a:gridCol w="2241450"/>
                <a:gridCol w="2502500"/>
              </a:tblGrid>
              <a:tr h="4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실제로 ‘스팸메일’ 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실제로는 ‘스팸메일’  아님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‘스팸’으로 판정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arenR"/>
                      </a:pPr>
                      <a:r>
                        <a:rPr lang="ko"/>
                        <a:t>      </a:t>
                      </a:r>
                      <a:r>
                        <a:rPr lang="ko" sz="3600"/>
                        <a:t>TP</a:t>
                      </a:r>
                      <a:endParaRPr sz="3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     (True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2)              </a:t>
                      </a:r>
                      <a:r>
                        <a:rPr lang="ko" sz="3600">
                          <a:solidFill>
                            <a:srgbClr val="000000"/>
                          </a:solidFill>
                        </a:rPr>
                        <a:t>FP</a:t>
                      </a:r>
                      <a:endParaRPr sz="36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     (False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‘스팸’이 아니라고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판정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3)</a:t>
                      </a:r>
                      <a:r>
                        <a:rPr lang="ko" sz="3600">
                          <a:solidFill>
                            <a:srgbClr val="000000"/>
                          </a:solidFill>
                        </a:rPr>
                        <a:t> FN</a:t>
                      </a:r>
                      <a:endParaRPr sz="36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(False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4)              </a:t>
                      </a:r>
                      <a:r>
                        <a:rPr lang="ko" sz="3600"/>
                        <a:t> TN</a:t>
                      </a:r>
                      <a:endParaRPr sz="3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(True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75" name="Google Shape;75;p15"/>
          <p:cNvSpPr txBox="1"/>
          <p:nvPr/>
        </p:nvSpPr>
        <p:spPr>
          <a:xfrm>
            <a:off x="3721525" y="26400"/>
            <a:ext cx="24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Actual Values  (실제 값)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 rot="-5400000">
            <a:off x="-198375" y="1420612"/>
            <a:ext cx="30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Predicted Values (예측,판정값)</a:t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7943700" y="735500"/>
            <a:ext cx="958800" cy="1164900"/>
          </a:xfrm>
          <a:prstGeom prst="wedgeRoundRectCallout">
            <a:avLst>
              <a:gd fmla="val -75696" name="adj1"/>
              <a:gd fmla="val -16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이 경우 2번이 심각하다.</a:t>
            </a:r>
            <a:endParaRPr sz="900"/>
          </a:p>
        </p:txBody>
      </p:sp>
      <p:sp>
        <p:nvSpPr>
          <p:cNvPr id="78" name="Google Shape;78;p15"/>
          <p:cNvSpPr txBox="1"/>
          <p:nvPr/>
        </p:nvSpPr>
        <p:spPr>
          <a:xfrm>
            <a:off x="914100" y="3528250"/>
            <a:ext cx="7315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accuracy( 정확도 )</a:t>
            </a:r>
            <a:r>
              <a:rPr lang="ko"/>
              <a:t> : 전체 케이스 중 ‘맞게(True) 가 얼마나 되냐?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</a:t>
            </a:r>
            <a:r>
              <a:rPr lang="ko">
                <a:solidFill>
                  <a:srgbClr val="000000"/>
                </a:solidFill>
              </a:rPr>
              <a:t>(TP + TN) / (TP + TN + FN + FP)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</a:rPr>
              <a:t>presicion (정밀도) :</a:t>
            </a:r>
            <a:r>
              <a:rPr lang="ko">
                <a:solidFill>
                  <a:srgbClr val="000000"/>
                </a:solidFill>
              </a:rPr>
              <a:t> positive 로 판정한것들 중 제대로 맞게(True) 가 얼마나 되나?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      TP / (TP + FP)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</a:rPr>
              <a:t>recall (재현률) </a:t>
            </a:r>
            <a:r>
              <a:rPr lang="ko">
                <a:solidFill>
                  <a:srgbClr val="000000"/>
                </a:solidFill>
              </a:rPr>
              <a:t>: 실제 positive 를 제대로 맞게 (True) 판정한게 얼마나 되는가?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      TP / (TP + FN)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7943700" y="3125675"/>
            <a:ext cx="958800" cy="1164900"/>
          </a:xfrm>
          <a:prstGeom prst="wedgeRoundRectCallout">
            <a:avLst>
              <a:gd fmla="val -75696" name="adj1"/>
              <a:gd fmla="val -16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2번 FP 를 줄여야 한다.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이 경우는 precision 이 중요하다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6"/>
          <p:cNvGraphicFramePr/>
          <p:nvPr/>
        </p:nvGraphicFramePr>
        <p:xfrm>
          <a:off x="1938300" y="57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{6A81D482-A8FF-4058-A269-61D0BD7C616F}</a:tableStyleId>
              </a:tblPr>
              <a:tblGrid>
                <a:gridCol w="1182375"/>
                <a:gridCol w="2224250"/>
                <a:gridCol w="2633375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실제로 ‘비가 옴’ 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실제로는 ‘비 안옴’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‘비옴’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으로 예보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arenR"/>
                      </a:pPr>
                      <a:r>
                        <a:rPr lang="ko"/>
                        <a:t>      </a:t>
                      </a:r>
                      <a:r>
                        <a:rPr lang="ko" sz="3600"/>
                        <a:t>TP</a:t>
                      </a:r>
                      <a:endParaRPr sz="3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     (True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2)              </a:t>
                      </a:r>
                      <a:r>
                        <a:rPr lang="ko" sz="3600">
                          <a:solidFill>
                            <a:srgbClr val="000000"/>
                          </a:solidFill>
                        </a:rPr>
                        <a:t>FP</a:t>
                      </a:r>
                      <a:endParaRPr sz="36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     (False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124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‘비 안옴’</a:t>
                      </a:r>
                      <a:br>
                        <a:rPr lang="ko">
                          <a:solidFill>
                            <a:srgbClr val="0000FF"/>
                          </a:solidFill>
                        </a:rPr>
                      </a:br>
                      <a:r>
                        <a:rPr lang="ko">
                          <a:solidFill>
                            <a:srgbClr val="0000FF"/>
                          </a:solidFill>
                        </a:rPr>
                        <a:t>으로 예보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3)</a:t>
                      </a:r>
                      <a:r>
                        <a:rPr lang="ko" sz="3600">
                          <a:solidFill>
                            <a:srgbClr val="000000"/>
                          </a:solidFill>
                        </a:rPr>
                        <a:t> FN</a:t>
                      </a:r>
                      <a:endParaRPr sz="36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(False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4)              </a:t>
                      </a:r>
                      <a:r>
                        <a:rPr lang="ko" sz="3600"/>
                        <a:t> TN</a:t>
                      </a:r>
                      <a:endParaRPr sz="3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(True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6"/>
          <p:cNvSpPr txBox="1"/>
          <p:nvPr/>
        </p:nvSpPr>
        <p:spPr>
          <a:xfrm>
            <a:off x="4331125" y="178800"/>
            <a:ext cx="24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Actual Values  (실제 값)</a:t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 rot="-5400000">
            <a:off x="-54725" y="1483663"/>
            <a:ext cx="30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Predicted Values (예측,판정값)</a:t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1432675" y="3636475"/>
            <a:ext cx="7315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accuracy( 정확도 )</a:t>
            </a:r>
            <a:r>
              <a:rPr lang="ko"/>
              <a:t> : 전체 케이스 중 ‘맞게(True) 가 얼마나 되냐?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</a:t>
            </a:r>
            <a:r>
              <a:rPr lang="ko">
                <a:solidFill>
                  <a:srgbClr val="000000"/>
                </a:solidFill>
              </a:rPr>
              <a:t>(TP + TN) / (TP + TN + FN + FP)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</a:rPr>
              <a:t>presicion (정밀도) :</a:t>
            </a:r>
            <a:r>
              <a:rPr lang="ko">
                <a:solidFill>
                  <a:srgbClr val="000000"/>
                </a:solidFill>
              </a:rPr>
              <a:t> positive 로 판정한것들 중 제대로 맞게(True) 가 얼마나 되나?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      TP / (TP + FP)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</a:rPr>
              <a:t>recall (재현률) </a:t>
            </a:r>
            <a:r>
              <a:rPr lang="ko">
                <a:solidFill>
                  <a:srgbClr val="000000"/>
                </a:solidFill>
              </a:rPr>
              <a:t>: 실제 positive 를 제대로 맞게 (True) 판정한게 얼마나 되는가?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      TP / (TP + FN)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138875" y="1729425"/>
            <a:ext cx="958800" cy="1827900"/>
          </a:xfrm>
          <a:prstGeom prst="wedgeRoundRectCallout">
            <a:avLst>
              <a:gd fmla="val 77574" name="adj1"/>
              <a:gd fmla="val -2159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이 경우도 3번이 심각하다.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2의 경우 경제적의 타격으로 끝나겠지만, 3의 경우는 사람의 생명이 달려 있다.</a:t>
            </a:r>
            <a:endParaRPr sz="900"/>
          </a:p>
        </p:txBody>
      </p:sp>
      <p:sp>
        <p:nvSpPr>
          <p:cNvPr id="89" name="Google Shape;89;p16"/>
          <p:cNvSpPr/>
          <p:nvPr/>
        </p:nvSpPr>
        <p:spPr>
          <a:xfrm>
            <a:off x="138875" y="3629325"/>
            <a:ext cx="958800" cy="1372500"/>
          </a:xfrm>
          <a:prstGeom prst="wedgeRoundRectCallout">
            <a:avLst>
              <a:gd fmla="val 68226" name="adj1"/>
              <a:gd fmla="val -1784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FN 을 줄여야 하기에  recall 이 중요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비예보 남발하면 recall 은 올라가지만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precision 은 떨어진다.</a:t>
            </a:r>
            <a:endParaRPr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