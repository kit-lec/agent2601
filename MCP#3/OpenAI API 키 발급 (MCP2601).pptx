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Ubuntu"/>
      <p:regular r:id="rId32"/>
      <p:bold r:id="rId33"/>
      <p:italic r:id="rId34"/>
      <p:boldItalic r:id="rId35"/>
    </p:embeddedFont>
    <p:embeddedFont>
      <p:font typeface="PT Sans Narrow"/>
      <p:regular r:id="rId36"/>
      <p:bold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F42C08-E8CF-4C50-9DCC-718B0B73748F}">
  <a:tblStyle styleId="{1EF42C08-E8CF-4C50-9DCC-718B0B7374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Ubuntu-bold.fntdata"/><Relationship Id="rId10" Type="http://schemas.openxmlformats.org/officeDocument/2006/relationships/slide" Target="slides/slide4.xml"/><Relationship Id="rId32" Type="http://schemas.openxmlformats.org/officeDocument/2006/relationships/font" Target="fonts/Ubuntu-regular.fntdata"/><Relationship Id="rId13" Type="http://schemas.openxmlformats.org/officeDocument/2006/relationships/slide" Target="slides/slide7.xml"/><Relationship Id="rId35" Type="http://schemas.openxmlformats.org/officeDocument/2006/relationships/font" Target="fonts/Ubuntu-boldItalic.fntdata"/><Relationship Id="rId12" Type="http://schemas.openxmlformats.org/officeDocument/2006/relationships/slide" Target="slides/slide6.xml"/><Relationship Id="rId34" Type="http://schemas.openxmlformats.org/officeDocument/2006/relationships/font" Target="fonts/Ubuntu-italic.fntdata"/><Relationship Id="rId15" Type="http://schemas.openxmlformats.org/officeDocument/2006/relationships/slide" Target="slides/slide9.xml"/><Relationship Id="rId37" Type="http://schemas.openxmlformats.org/officeDocument/2006/relationships/font" Target="fonts/PTSansNarrow-bold.fntdata"/><Relationship Id="rId14" Type="http://schemas.openxmlformats.org/officeDocument/2006/relationships/slide" Target="slides/slide8.xml"/><Relationship Id="rId36" Type="http://schemas.openxmlformats.org/officeDocument/2006/relationships/font" Target="fonts/PTSansNarrow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b5aaf5eb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b5aaf5eb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b5aaf5eb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b5aaf5eb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b5aaf5eb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b5aaf5eb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b5aaf5eb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b5aaf5eb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b5aaf5eb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b5aaf5eb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5aaf5eb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b5aaf5eb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b5aaf5eb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b5aaf5eb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b5aaf5eb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b5aaf5eb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b5aaf5eb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b5aaf5eb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b5aaf5eb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b5aaf5eb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b5aaf5eb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b5aaf5eb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b5aaf5eb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b5aaf5eb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b5aaf5eb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b5aaf5eb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b5aaf5eb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b5aaf5eb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b5aaf5eb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b5aaf5eb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b5aaf5eb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b5aaf5eb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b5aaf5eb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b5aaf5eb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b5aaf5eb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b5aaf5eb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b5aaf5eb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b5aaf5eb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b5aaf5eb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b5aaf5eb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b5aaf5eb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b5aaf5eb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b5aaf5eb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b5aaf5eb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b5aaf5ebd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b5aaf5eb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b5aaf5ebd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b5aaf5eb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b5aaf5eb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8b5aaf5eb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latform.openai.com/docs/api-referenc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latform.openai.com/docs/overvie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latform.openai.com/api-keys" TargetMode="External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platform.openai.com/account/billing/overvie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penai.com/pricing" TargetMode="External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latform.openai.com/account/billing/overview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latform.openai.com/usage" TargetMode="External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 API 키 발급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 API</a:t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2850050"/>
            <a:ext cx="41148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 API 공식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https://platform.openai.com/docs/api-reference</a:t>
            </a:r>
            <a:r>
              <a:rPr lang="ko"/>
              <a:t>  API 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일단 OpenAI 회원 가입 &amp; 로그인 하기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u="sng">
                <a:solidFill>
                  <a:schemeClr val="hlink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  <a:hlinkClick r:id="rId3"/>
              </a:rPr>
              <a:t>https://platform.openai.com/docs/overview</a:t>
            </a:r>
            <a:endParaRPr sz="1350">
              <a:solidFill>
                <a:srgbClr val="1B2E46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rgbClr val="1B2E46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API Key 를 받기 전에 전화번호 인증해야 한다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732925"/>
            <a:ext cx="85206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https://platform.openai.com/api-keys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557725" y="1204575"/>
            <a:ext cx="77256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OpenAI 는 최초 회원가입시 $5 의 Free Credit 을 준다.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그러나, 다른 계정으로 회원가입할때도 무조건 주는게 아니고 전화번호가 다른지 인증한뒤에 준다.    (전화번호가 같다면,  다른 계정이라도 Free Credit 을 주지 않는다)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200" y="2437639"/>
            <a:ext cx="7725598" cy="21947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84000" y="1142375"/>
            <a:ext cx="3251700" cy="10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만약 전화번호 인증 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이미 다른 계정의 전화번호와 같다면 Free credit 은 주지 않는다..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388" y="966525"/>
            <a:ext cx="4855988" cy="33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Billing 세팅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677" y="221050"/>
            <a:ext cx="5943576" cy="429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19"/>
          <p:cNvSpPr txBox="1"/>
          <p:nvPr>
            <p:ph type="title"/>
          </p:nvPr>
        </p:nvSpPr>
        <p:spPr>
          <a:xfrm>
            <a:off x="260075" y="1558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Billing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105125" y="1183700"/>
            <a:ext cx="2662800" cy="22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4"/>
              </a:rPr>
              <a:t>https://platform.openai.com/account/billing/overview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5518825" y="465550"/>
            <a:ext cx="1347600" cy="549300"/>
          </a:xfrm>
          <a:prstGeom prst="wedgeRoundRectCallout">
            <a:avLst>
              <a:gd fmla="val -68843" name="adj1"/>
              <a:gd fmla="val 30762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최초 화원가입시 Free Trial 상태다.</a:t>
            </a:r>
            <a:endParaRPr sz="1100"/>
          </a:p>
        </p:txBody>
      </p:sp>
      <p:sp>
        <p:nvSpPr>
          <p:cNvPr id="108" name="Google Shape;108;p19"/>
          <p:cNvSpPr/>
          <p:nvPr/>
        </p:nvSpPr>
        <p:spPr>
          <a:xfrm>
            <a:off x="1144550" y="3938550"/>
            <a:ext cx="1534200" cy="549300"/>
          </a:xfrm>
          <a:prstGeom prst="wedgeRoundRectCallout">
            <a:avLst>
              <a:gd fmla="val -13523" name="adj1"/>
              <a:gd fmla="val -87721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계정 만들고 3달 뒤면 이 free credit 은 사라지게 될거다.</a:t>
            </a:r>
            <a:endParaRPr sz="1100"/>
          </a:p>
        </p:txBody>
      </p:sp>
      <p:sp>
        <p:nvSpPr>
          <p:cNvPr id="109" name="Google Shape;109;p19"/>
          <p:cNvSpPr/>
          <p:nvPr/>
        </p:nvSpPr>
        <p:spPr>
          <a:xfrm>
            <a:off x="1984025" y="2146550"/>
            <a:ext cx="1347600" cy="549300"/>
          </a:xfrm>
          <a:prstGeom prst="wedgeRoundRectCallout">
            <a:avLst>
              <a:gd fmla="val 122371" name="adj1"/>
              <a:gd fmla="val -92418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최초회원가입시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Free Credit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$5.00 을 줄거다.</a:t>
            </a:r>
            <a:endParaRPr sz="1100"/>
          </a:p>
        </p:txBody>
      </p:sp>
      <p:sp>
        <p:nvSpPr>
          <p:cNvPr id="110" name="Google Shape;110;p19"/>
          <p:cNvSpPr/>
          <p:nvPr/>
        </p:nvSpPr>
        <p:spPr>
          <a:xfrm>
            <a:off x="743650" y="3042550"/>
            <a:ext cx="1841700" cy="549300"/>
          </a:xfrm>
          <a:prstGeom prst="wedgeRoundRectCallout">
            <a:avLst>
              <a:gd fmla="val 43616" name="adj1"/>
              <a:gd fmla="val -118278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그러나, 이를 다 소진했거나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가입후 3달이 지났다면.  expire 된다.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08425" y="525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혹시 이미 오래전에 OpenAI 가입했었다면…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950" y="759955"/>
            <a:ext cx="9143999" cy="351878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20"/>
          <p:cNvSpPr/>
          <p:nvPr/>
        </p:nvSpPr>
        <p:spPr>
          <a:xfrm>
            <a:off x="4988575" y="2571750"/>
            <a:ext cx="1573200" cy="549300"/>
          </a:xfrm>
          <a:prstGeom prst="wedgeRoundRectCallout">
            <a:avLst>
              <a:gd fmla="val 57413" name="adj1"/>
              <a:gd fmla="val 82132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최초 Free Credit $5 는 expred 되어있을 것이다.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과금체계 확인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3650" y="622925"/>
            <a:ext cx="8520600" cy="12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https://openai.com/pricing</a:t>
            </a:r>
            <a:r>
              <a:rPr lang="ko"/>
              <a:t>   API 가격 정책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ChatGPT에 사용되는 gpt-3.5-turbo 모델의 경우 가격은 1,000 토큰당 0.0002 달러로 상당히 저렴하며, 현재 OpenAI에서는 </a:t>
            </a:r>
            <a:r>
              <a:rPr lang="ko">
                <a:solidFill>
                  <a:srgbClr val="FF0000"/>
                </a:solidFill>
              </a:rPr>
              <a:t>체험이나 학습용</a:t>
            </a:r>
            <a:r>
              <a:rPr lang="ko"/>
              <a:t>으로는 차고 넘치는 18불의 무료 크레딧을 제공하고 있습니다.</a:t>
            </a:r>
            <a:endParaRPr/>
          </a:p>
        </p:txBody>
      </p:sp>
      <p:graphicFrame>
        <p:nvGraphicFramePr>
          <p:cNvPr id="125" name="Google Shape;125;p21"/>
          <p:cNvGraphicFramePr/>
          <p:nvPr/>
        </p:nvGraphicFramePr>
        <p:xfrm>
          <a:off x="3095950" y="19003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{1EF42C08-E8CF-4C50-9DCC-718B0B73748F}</a:tableStyleId>
              </a:tblPr>
              <a:tblGrid>
                <a:gridCol w="2371725"/>
                <a:gridCol w="1571625"/>
                <a:gridCol w="1571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Model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Input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Output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gpt-3.5-turbo-0125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$0.0005 / 1K tokens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$0.0015 / 1K tokens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gpt-3.5-turbo-instruct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$0.0015 / 1K tokens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rgbClr val="FFFFFF"/>
                          </a:highlight>
                        </a:rPr>
                        <a:t>$0.0020 / 1K tokens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1"/>
          <p:cNvSpPr txBox="1"/>
          <p:nvPr/>
        </p:nvSpPr>
        <p:spPr>
          <a:xfrm>
            <a:off x="373650" y="2079150"/>
            <a:ext cx="238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highlight>
                  <a:srgbClr val="FFFFFF"/>
                </a:highlight>
              </a:rPr>
              <a:t>GPT-3.5 Turbo</a:t>
            </a:r>
            <a:endParaRPr b="1" sz="2000">
              <a:highlight>
                <a:srgbClr val="FFFFFF"/>
              </a:highlight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373650" y="3604575"/>
            <a:ext cx="196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highlight>
                  <a:srgbClr val="FFFFFF"/>
                </a:highlight>
              </a:rPr>
              <a:t>GPT-4 Turbo</a:t>
            </a:r>
            <a:endParaRPr b="1" sz="2000">
              <a:highlight>
                <a:srgbClr val="FFFFFF"/>
              </a:highlight>
            </a:endParaRPr>
          </a:p>
        </p:txBody>
      </p:sp>
      <p:graphicFrame>
        <p:nvGraphicFramePr>
          <p:cNvPr id="128" name="Google Shape;128;p21"/>
          <p:cNvGraphicFramePr/>
          <p:nvPr/>
        </p:nvGraphicFramePr>
        <p:xfrm>
          <a:off x="3095950" y="33231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{1EF42C08-E8CF-4C50-9DCC-718B0B73748F}</a:tableStyleId>
              </a:tblPr>
              <a:tblGrid>
                <a:gridCol w="2371725"/>
                <a:gridCol w="1390650"/>
                <a:gridCol w="1390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Model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Input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Output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gpt-4-0125-preview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$0.01 / 1K tokens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$0.03 / 1K tokens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gpt-4-1106-preview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$0.01 / 1K tokens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$0.03 / 1K tokens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gpt-4-1106-vision-preview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$0.01 / 1K tokens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highlight>
                            <a:srgbClr val="FFFFFF"/>
                          </a:highlight>
                        </a:rPr>
                        <a:t>$0.03 / 1K tokens</a:t>
                      </a:r>
                      <a:endParaRPr sz="12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1934" l="22209" r="47174" t="83546"/>
          <a:stretch/>
        </p:blipFill>
        <p:spPr>
          <a:xfrm>
            <a:off x="4118775" y="50079"/>
            <a:ext cx="2212451" cy="84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결제수단 등록</a:t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2897975" y="127250"/>
            <a:ext cx="2916900" cy="549300"/>
          </a:xfrm>
          <a:prstGeom prst="wedgeRoundRectCallout">
            <a:avLst>
              <a:gd fmla="val 30026" name="adj1"/>
              <a:gd fmla="val 90929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Free Trial 이 끝난 분들은</a:t>
            </a:r>
            <a:endParaRPr sz="1800"/>
          </a:p>
        </p:txBody>
      </p:sp>
      <p:sp>
        <p:nvSpPr>
          <p:cNvPr id="136" name="Google Shape;136;p22"/>
          <p:cNvSpPr/>
          <p:nvPr/>
        </p:nvSpPr>
        <p:spPr>
          <a:xfrm>
            <a:off x="2988400" y="2297100"/>
            <a:ext cx="2916900" cy="549300"/>
          </a:xfrm>
          <a:prstGeom prst="wedgeRoundRectCallout">
            <a:avLst>
              <a:gd fmla="val 7949" name="adj1"/>
              <a:gd fmla="val -110422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Free Trial 이 남은 분들은 이 단계를 건너 뛰어도 OK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628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만약 Free Trial 이 끝났다면, 결제수단 등록해야 한다.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1549250" y="636300"/>
            <a:ext cx="68700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https://platform.openai.com/account/billing/overview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4750" y="1076825"/>
            <a:ext cx="6133124" cy="3864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60075" y="1971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개인 or 회사?  선택</a:t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75" y="1229500"/>
            <a:ext cx="3715150" cy="21610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1675" y="227725"/>
            <a:ext cx="3791651" cy="45367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24"/>
          <p:cNvSpPr/>
          <p:nvPr/>
        </p:nvSpPr>
        <p:spPr>
          <a:xfrm>
            <a:off x="4264425" y="2522550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7390775" y="2035350"/>
            <a:ext cx="1347600" cy="549300"/>
          </a:xfrm>
          <a:prstGeom prst="wedgeRoundRectCallout">
            <a:avLst>
              <a:gd fmla="val -81105" name="adj1"/>
              <a:gd fmla="val -55252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해외 결제 가능한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카드 정보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119425" y="-332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결제 진행</a:t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02" y="619988"/>
            <a:ext cx="3799240" cy="4164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16225"/>
            <a:ext cx="4139100" cy="36291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25"/>
          <p:cNvSpPr/>
          <p:nvPr/>
        </p:nvSpPr>
        <p:spPr>
          <a:xfrm>
            <a:off x="2371225" y="519725"/>
            <a:ext cx="1347600" cy="549300"/>
          </a:xfrm>
          <a:prstGeom prst="wedgeRoundRectCallout">
            <a:avLst>
              <a:gd fmla="val -84938" name="adj1"/>
              <a:gd fmla="val 70248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최소결제금액 </a:t>
            </a:r>
            <a:r>
              <a:rPr b="1" lang="ko" sz="1100">
                <a:solidFill>
                  <a:srgbClr val="0000FF"/>
                </a:solidFill>
              </a:rPr>
              <a:t>$5</a:t>
            </a:r>
            <a:endParaRPr b="1" sz="1100">
              <a:solidFill>
                <a:srgbClr val="0000FF"/>
              </a:solidFill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3962700" y="2388300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6851175" y="444900"/>
            <a:ext cx="1347600" cy="549300"/>
          </a:xfrm>
          <a:prstGeom prst="wedgeRoundRectCallout">
            <a:avLst>
              <a:gd fmla="val 17952" name="adj1"/>
              <a:gd fmla="val 110195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세금까지 추가되어 결제 된다…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275" y="674150"/>
            <a:ext cx="7069475" cy="4275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26"/>
          <p:cNvSpPr txBox="1"/>
          <p:nvPr>
            <p:ph type="title"/>
          </p:nvPr>
        </p:nvSpPr>
        <p:spPr>
          <a:xfrm>
            <a:off x="119425" y="-332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결제 완료후 Billing 확인해보면</a:t>
            </a:r>
            <a:endParaRPr/>
          </a:p>
        </p:txBody>
      </p:sp>
      <p:sp>
        <p:nvSpPr>
          <p:cNvPr id="169" name="Google Shape;169;p26"/>
          <p:cNvSpPr/>
          <p:nvPr/>
        </p:nvSpPr>
        <p:spPr>
          <a:xfrm>
            <a:off x="4523800" y="1528725"/>
            <a:ext cx="1777200" cy="707400"/>
          </a:xfrm>
          <a:prstGeom prst="wedgeRoundRectCallout">
            <a:avLst>
              <a:gd fmla="val -78805" name="adj1"/>
              <a:gd fmla="val 51447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결제 수단이 등록되면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Pay as you go</a:t>
            </a:r>
            <a:r>
              <a:rPr lang="ko" sz="1100"/>
              <a:t> 로 변경된다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API Key 발급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114525"/>
            <a:ext cx="2745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API 키 발급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9725"/>
            <a:ext cx="3343100" cy="372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3050" y="934975"/>
            <a:ext cx="6365451" cy="39324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8"/>
          <p:cNvSpPr/>
          <p:nvPr/>
        </p:nvSpPr>
        <p:spPr>
          <a:xfrm>
            <a:off x="1659475" y="2910850"/>
            <a:ext cx="12429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250" y="2614225"/>
            <a:ext cx="5947109" cy="2352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75" y="85375"/>
            <a:ext cx="4062025" cy="2251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9"/>
          <p:cNvSpPr/>
          <p:nvPr/>
        </p:nvSpPr>
        <p:spPr>
          <a:xfrm>
            <a:off x="2856900" y="240375"/>
            <a:ext cx="1873500" cy="846900"/>
          </a:xfrm>
          <a:prstGeom prst="wedgeRoundRectCallout">
            <a:avLst>
              <a:gd fmla="val -66861" name="adj1"/>
              <a:gd fmla="val 34716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key 를 관리하기 위해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식별할수 있는 이름 지정 가능 (옵션)</a:t>
            </a:r>
            <a:endParaRPr sz="1100"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4925" y="0"/>
            <a:ext cx="3855399" cy="2486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29"/>
          <p:cNvSpPr/>
          <p:nvPr/>
        </p:nvSpPr>
        <p:spPr>
          <a:xfrm>
            <a:off x="4144800" y="1279950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>
            <a:off x="6804450" y="2393400"/>
            <a:ext cx="393000" cy="497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/>
          <p:nvPr/>
        </p:nvSpPr>
        <p:spPr>
          <a:xfrm>
            <a:off x="5550050" y="1646850"/>
            <a:ext cx="1873500" cy="612300"/>
          </a:xfrm>
          <a:prstGeom prst="wedgeRoundRectCallout">
            <a:avLst>
              <a:gd fmla="val 20364" name="adj1"/>
              <a:gd fmla="val -98461" name="adj2"/>
              <a:gd fmla="val 0" name="adj3"/>
            </a:avLst>
          </a:prstGeom>
          <a:solidFill>
            <a:srgbClr val="FF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</a:rPr>
              <a:t>★따로 복사해 두어야 한다!.</a:t>
            </a:r>
            <a:r>
              <a:rPr lang="ko" sz="1100">
                <a:solidFill>
                  <a:srgbClr val="FF0000"/>
                </a:solidFill>
              </a:rPr>
              <a:t>  나중에 확인 불가하다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7423550" y="3460275"/>
            <a:ext cx="1873500" cy="846900"/>
          </a:xfrm>
          <a:prstGeom prst="wedgeRoundRectCallout">
            <a:avLst>
              <a:gd fmla="val -66861" name="adj1"/>
              <a:gd fmla="val 34716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key 생성 완료!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167125" y="93850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 API key 사용량 확인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229075" y="894500"/>
            <a:ext cx="44289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https://platform.openai.com/usage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375" y="1428200"/>
            <a:ext cx="7191025" cy="3364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Auto Recharge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1830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Credit 이 0.0 이 되면 재충전(결제) 설정하기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25" y="957324"/>
            <a:ext cx="7559973" cy="38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4442" y="0"/>
            <a:ext cx="427511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253450" y="628700"/>
            <a:ext cx="85206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이후 새로고침.</a:t>
            </a:r>
            <a:endParaRPr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66300"/>
            <a:ext cx="8520602" cy="313186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billing &amp; 구독취소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7" y="789575"/>
            <a:ext cx="8839200" cy="25860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36"/>
          <p:cNvSpPr txBox="1"/>
          <p:nvPr/>
        </p:nvSpPr>
        <p:spPr>
          <a:xfrm>
            <a:off x="332425" y="84950"/>
            <a:ext cx="638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settings / Billing / Overview  에서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36"/>
          <p:cNvSpPr/>
          <p:nvPr/>
        </p:nvSpPr>
        <p:spPr>
          <a:xfrm>
            <a:off x="4260475" y="1738000"/>
            <a:ext cx="1347600" cy="549300"/>
          </a:xfrm>
          <a:prstGeom prst="wedgeRoundRectCallout">
            <a:avLst>
              <a:gd fmla="val -48887" name="adj1"/>
              <a:gd fmla="val 81108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plan 취소 하거나</a:t>
            </a:r>
            <a:endParaRPr sz="1100"/>
          </a:p>
        </p:txBody>
      </p:sp>
      <p:sp>
        <p:nvSpPr>
          <p:cNvPr id="239" name="Google Shape;239;p36"/>
          <p:cNvSpPr/>
          <p:nvPr/>
        </p:nvSpPr>
        <p:spPr>
          <a:xfrm>
            <a:off x="7478675" y="2075075"/>
            <a:ext cx="1347600" cy="549300"/>
          </a:xfrm>
          <a:prstGeom prst="wedgeRoundRectCallout">
            <a:avLst>
              <a:gd fmla="val -48887" name="adj1"/>
              <a:gd fmla="val 81108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auto recharge  취소가능</a:t>
            </a:r>
            <a:endParaRPr sz="1100"/>
          </a:p>
        </p:txBody>
      </p:sp>
      <p:sp>
        <p:nvSpPr>
          <p:cNvPr id="240" name="Google Shape;240;p36"/>
          <p:cNvSpPr/>
          <p:nvPr/>
        </p:nvSpPr>
        <p:spPr>
          <a:xfrm>
            <a:off x="885375" y="3663400"/>
            <a:ext cx="1347600" cy="549300"/>
          </a:xfrm>
          <a:prstGeom prst="wedgeRoundRectCallout">
            <a:avLst>
              <a:gd fmla="val 86446" name="adj1"/>
              <a:gd fmla="val -422392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billing history 에선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지불한 내역들 확인 가능.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