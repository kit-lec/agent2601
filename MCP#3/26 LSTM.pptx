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y="5143500" cx="9144000"/>
  <p:notesSz cx="6858000" cy="9144000"/>
  <p:embeddedFontLst>
    <p:embeddedFont>
      <p:font typeface="PT Sans Narrow"/>
      <p:regular r:id="rId21"/>
      <p:bold r:id="rId22"/>
    </p:embeddedFont>
    <p:embeddedFont>
      <p:font typeface="Open Sans"/>
      <p:regular r:id="rId23"/>
      <p:bold r:id="rId24"/>
      <p:italic r:id="rId25"/>
      <p:boldItalic r:id="rId2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font" Target="fonts/PTSansNarrow-bold.fntdata"/><Relationship Id="rId21" Type="http://schemas.openxmlformats.org/officeDocument/2006/relationships/font" Target="fonts/PTSansNarrow-regular.fntdata"/><Relationship Id="rId24" Type="http://schemas.openxmlformats.org/officeDocument/2006/relationships/font" Target="fonts/OpenSans-bold.fntdata"/><Relationship Id="rId23" Type="http://schemas.openxmlformats.org/officeDocument/2006/relationships/font" Target="fonts/OpenSans-regular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OpenSans-boldItalic.fntdata"/><Relationship Id="rId25" Type="http://schemas.openxmlformats.org/officeDocument/2006/relationships/font" Target="fonts/OpenSans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d2f51e2192_0_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d2f51e2192_0_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3d2f51e2192_0_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g3d2f51e2192_0_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d2f51e2192_0_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d2f51e2192_0_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d2f51e2192_0_1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3d2f51e2192_0_1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d2f51e2192_0_1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3d2f51e2192_0_1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d2f51e2192_0_2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3d2f51e2192_0_2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d2f51e2192_0_2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3d2f51e2192_0_2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3d2f51e2192_0_2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" name="Google Shape;116;g3d2f51e2192_0_2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d2f51e2192_0_2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g3d2f51e2192_0_2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3d2f51e2192_0_3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3d2f51e2192_0_3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3d2f51e2192_0_3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" name="Google Shape;145;g3d2f51e2192_0_3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3d2f51e2192_0_4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" name="Google Shape;156;g3d2f51e2192_0_4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3d2f51e2192_0_3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4" name="Google Shape;164;g3d2f51e2192_0_3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3d2f51e2192_0_3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" name="Google Shape;168;g3d2f51e2192_0_3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Google Shape;10;p2"/>
          <p:cNvCxnSpPr/>
          <p:nvPr/>
        </p:nvCxnSpPr>
        <p:spPr>
          <a:xfrm>
            <a:off x="7007735" y="3176888"/>
            <a:ext cx="562200" cy="0"/>
          </a:xfrm>
          <a:prstGeom prst="straightConnector1">
            <a:avLst/>
          </a:prstGeom>
          <a:noFill/>
          <a:ln cap="flat" cmpd="sng" w="762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" name="Google Shape;11;p2"/>
          <p:cNvCxnSpPr/>
          <p:nvPr/>
        </p:nvCxnSpPr>
        <p:spPr>
          <a:xfrm>
            <a:off x="1575035" y="3158252"/>
            <a:ext cx="562200" cy="0"/>
          </a:xfrm>
          <a:prstGeom prst="straightConnector1">
            <a:avLst/>
          </a:prstGeom>
          <a:noFill/>
          <a:ln cap="flat" cmpd="sng" w="762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12" name="Google Shape;12;p2"/>
          <p:cNvGrpSpPr/>
          <p:nvPr/>
        </p:nvGrpSpPr>
        <p:grpSpPr>
          <a:xfrm>
            <a:off x="1004144" y="1022025"/>
            <a:ext cx="7136668" cy="152400"/>
            <a:chOff x="1346429" y="1011300"/>
            <a:chExt cx="6452100" cy="152400"/>
          </a:xfrm>
        </p:grpSpPr>
        <p:cxnSp>
          <p:nvCxnSpPr>
            <p:cNvPr id="13" name="Google Shape;13;p2"/>
            <p:cNvCxnSpPr/>
            <p:nvPr/>
          </p:nvCxnSpPr>
          <p:spPr>
            <a:xfrm rot="10800000">
              <a:off x="1346429" y="1011300"/>
              <a:ext cx="6452100" cy="0"/>
            </a:xfrm>
            <a:prstGeom prst="straightConnector1">
              <a:avLst/>
            </a:prstGeom>
            <a:noFill/>
            <a:ln cap="flat" cmpd="sng" w="7620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4" name="Google Shape;14;p2"/>
            <p:cNvCxnSpPr/>
            <p:nvPr/>
          </p:nvCxnSpPr>
          <p:spPr>
            <a:xfrm rot="10800000">
              <a:off x="1346429" y="1163700"/>
              <a:ext cx="6452100" cy="0"/>
            </a:xfrm>
            <a:prstGeom prst="straightConnector1">
              <a:avLst/>
            </a:prstGeom>
            <a:noFill/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15" name="Google Shape;15;p2"/>
          <p:cNvGrpSpPr/>
          <p:nvPr/>
        </p:nvGrpSpPr>
        <p:grpSpPr>
          <a:xfrm>
            <a:off x="1004151" y="3969100"/>
            <a:ext cx="7136668" cy="152400"/>
            <a:chOff x="1346435" y="3969088"/>
            <a:chExt cx="6452100" cy="152400"/>
          </a:xfrm>
        </p:grpSpPr>
        <p:cxnSp>
          <p:nvCxnSpPr>
            <p:cNvPr id="16" name="Google Shape;16;p2"/>
            <p:cNvCxnSpPr/>
            <p:nvPr/>
          </p:nvCxnSpPr>
          <p:spPr>
            <a:xfrm>
              <a:off x="1346435" y="4121488"/>
              <a:ext cx="6452100" cy="0"/>
            </a:xfrm>
            <a:prstGeom prst="straightConnector1">
              <a:avLst/>
            </a:prstGeom>
            <a:noFill/>
            <a:ln cap="flat" cmpd="sng" w="7620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7" name="Google Shape;17;p2"/>
            <p:cNvCxnSpPr/>
            <p:nvPr/>
          </p:nvCxnSpPr>
          <p:spPr>
            <a:xfrm>
              <a:off x="1346435" y="3969088"/>
              <a:ext cx="6452100" cy="0"/>
            </a:xfrm>
            <a:prstGeom prst="straightConnector1">
              <a:avLst/>
            </a:prstGeom>
            <a:noFill/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18" name="Google Shape;18;p2"/>
          <p:cNvSpPr txBox="1"/>
          <p:nvPr>
            <p:ph type="ctrTitle"/>
          </p:nvPr>
        </p:nvSpPr>
        <p:spPr>
          <a:xfrm>
            <a:off x="1004150" y="1751764"/>
            <a:ext cx="7136700" cy="1022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1pPr>
            <a:lvl2pPr lvl="1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2pPr>
            <a:lvl3pPr lvl="2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3pPr>
            <a:lvl4pPr lvl="3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4pPr>
            <a:lvl5pPr lvl="4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5pPr>
            <a:lvl6pPr lvl="5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6pPr>
            <a:lvl7pPr lvl="6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7pPr>
            <a:lvl8pPr lvl="7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8pPr>
            <a:lvl9pPr lvl="8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9pPr>
          </a:lstStyle>
          <a:p/>
        </p:txBody>
      </p:sp>
      <p:sp>
        <p:nvSpPr>
          <p:cNvPr id="19" name="Google Shape;19;p2"/>
          <p:cNvSpPr txBox="1"/>
          <p:nvPr>
            <p:ph idx="1" type="subTitle"/>
          </p:nvPr>
        </p:nvSpPr>
        <p:spPr>
          <a:xfrm>
            <a:off x="2137225" y="2850039"/>
            <a:ext cx="48705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20" name="Google Shape;20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"/>
          <p:cNvSpPr/>
          <p:nvPr/>
        </p:nvSpPr>
        <p:spPr>
          <a:xfrm>
            <a:off x="-50" y="2571900"/>
            <a:ext cx="9144000" cy="25716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" name="Google Shape;23;p3"/>
          <p:cNvSpPr txBox="1"/>
          <p:nvPr>
            <p:ph type="title"/>
          </p:nvPr>
        </p:nvSpPr>
        <p:spPr>
          <a:xfrm>
            <a:off x="311700" y="814800"/>
            <a:ext cx="8571300" cy="942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4"/>
          <p:cNvSpPr/>
          <p:nvPr/>
        </p:nvSpPr>
        <p:spPr>
          <a:xfrm>
            <a:off x="-75" y="5045700"/>
            <a:ext cx="9144000" cy="978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p4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/>
        </p:txBody>
      </p:sp>
      <p:sp>
        <p:nvSpPr>
          <p:cNvPr id="28" name="Google Shape;28;p4"/>
          <p:cNvSpPr txBox="1"/>
          <p:nvPr>
            <p:ph idx="1" type="body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9" name="Google Shape;2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5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" type="body"/>
          </p:nvPr>
        </p:nvSpPr>
        <p:spPr>
          <a:xfrm>
            <a:off x="311700" y="1266175"/>
            <a:ext cx="39999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3" name="Google Shape;33;p5"/>
          <p:cNvSpPr txBox="1"/>
          <p:nvPr>
            <p:ph idx="2" type="body"/>
          </p:nvPr>
        </p:nvSpPr>
        <p:spPr>
          <a:xfrm>
            <a:off x="4832400" y="1266175"/>
            <a:ext cx="39999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4" name="Google Shape;3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6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/>
        </p:txBody>
      </p:sp>
      <p:sp>
        <p:nvSpPr>
          <p:cNvPr id="37" name="Google Shape;3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0" name="Google Shape;4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1" name="Google Shape;4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6"/>
        </a:solidFill>
      </p:bgPr>
    </p:bg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8"/>
          <p:cNvSpPr txBox="1"/>
          <p:nvPr>
            <p:ph type="title"/>
          </p:nvPr>
        </p:nvSpPr>
        <p:spPr>
          <a:xfrm>
            <a:off x="490250" y="526350"/>
            <a:ext cx="56136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44" name="Google Shape;4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9"/>
          <p:cNvSpPr/>
          <p:nvPr/>
        </p:nvSpPr>
        <p:spPr>
          <a:xfrm>
            <a:off x="4572000" y="0"/>
            <a:ext cx="4572000" cy="51435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7" name="Google Shape;47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8" name="Google Shape;48;p9"/>
          <p:cNvSpPr txBox="1"/>
          <p:nvPr>
            <p:ph type="title"/>
          </p:nvPr>
        </p:nvSpPr>
        <p:spPr>
          <a:xfrm>
            <a:off x="265500" y="1039675"/>
            <a:ext cx="4045200" cy="1675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9" name="Google Shape;49;p9"/>
          <p:cNvSpPr txBox="1"/>
          <p:nvPr>
            <p:ph idx="1" type="subTitle"/>
          </p:nvPr>
        </p:nvSpPr>
        <p:spPr>
          <a:xfrm>
            <a:off x="265500" y="27268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50" name="Google Shape;50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1" name="Google Shape;51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0"/>
          <p:cNvSpPr txBox="1"/>
          <p:nvPr>
            <p:ph idx="1" type="body"/>
          </p:nvPr>
        </p:nvSpPr>
        <p:spPr>
          <a:xfrm>
            <a:off x="311700" y="423072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T Sans Narrow"/>
              <a:buNone/>
              <a:defRPr sz="2400">
                <a:latin typeface="PT Sans Narrow"/>
                <a:ea typeface="PT Sans Narrow"/>
                <a:cs typeface="PT Sans Narrow"/>
                <a:sym typeface="PT Sans Narrow"/>
              </a:defRPr>
            </a:lvl1pPr>
          </a:lstStyle>
          <a:p/>
        </p:txBody>
      </p:sp>
      <p:sp>
        <p:nvSpPr>
          <p:cNvPr id="54" name="Google Shape;54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1"/>
          <p:cNvSpPr/>
          <p:nvPr/>
        </p:nvSpPr>
        <p:spPr>
          <a:xfrm>
            <a:off x="-75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11"/>
          <p:cNvSpPr txBox="1"/>
          <p:nvPr>
            <p:ph hasCustomPrompt="1" type="title"/>
          </p:nvPr>
        </p:nvSpPr>
        <p:spPr>
          <a:xfrm>
            <a:off x="311700" y="1304850"/>
            <a:ext cx="8520600" cy="1538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8" name="Google Shape;58;p11"/>
          <p:cNvSpPr txBox="1"/>
          <p:nvPr>
            <p:ph idx="1" type="body"/>
          </p:nvPr>
        </p:nvSpPr>
        <p:spPr>
          <a:xfrm>
            <a:off x="311700" y="2995650"/>
            <a:ext cx="8520600" cy="107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9" name="Google Shape;59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tropic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Open Sans"/>
              <a:buChar char="●"/>
              <a:defRPr sz="18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○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■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●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○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■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●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○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■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7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4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3"/>
          <p:cNvSpPr txBox="1"/>
          <p:nvPr>
            <p:ph type="ctrTitle"/>
          </p:nvPr>
        </p:nvSpPr>
        <p:spPr>
          <a:xfrm>
            <a:off x="1004150" y="1751764"/>
            <a:ext cx="7136700" cy="1022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LSTM</a:t>
            </a:r>
            <a:endParaRPr/>
          </a:p>
        </p:txBody>
      </p:sp>
      <p:sp>
        <p:nvSpPr>
          <p:cNvPr id="67" name="Google Shape;67;p13"/>
          <p:cNvSpPr txBox="1"/>
          <p:nvPr>
            <p:ph idx="1" type="subTitle"/>
          </p:nvPr>
        </p:nvSpPr>
        <p:spPr>
          <a:xfrm>
            <a:off x="2137225" y="2850039"/>
            <a:ext cx="48705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"/>
              <a:t>LSTM</a:t>
            </a:r>
            <a:r>
              <a:rPr lang="ko"/>
              <a:t>:Long Short-Term Memory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4"/>
          <p:cNvSpPr txBox="1"/>
          <p:nvPr/>
        </p:nvSpPr>
        <p:spPr>
          <a:xfrm>
            <a:off x="342600" y="588725"/>
            <a:ext cx="8458800" cy="7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ko" sz="1600">
                <a:solidFill>
                  <a:srgbClr val="0000FF"/>
                </a:solidFill>
                <a:highlight>
                  <a:srgbClr val="FFFFFF"/>
                </a:highlight>
              </a:rPr>
              <a:t> ''모스크바에 여행을 왔는데 건물도 예쁘고 먹을 것도 맛있었어. 그런데 글쎄 직장 상사한테 전화가 왔어. 어디냐고 묻더라구 그래서 나는 말했지. 저 여행왔는데요. 여기 ___''</a:t>
            </a:r>
            <a:endParaRPr sz="1600">
              <a:solidFill>
                <a:srgbClr val="0000FF"/>
              </a:solidFill>
              <a:highlight>
                <a:srgbClr val="FFFFFF"/>
              </a:highlight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5"/>
          <p:cNvSpPr txBox="1"/>
          <p:nvPr>
            <p:ph type="title"/>
          </p:nvPr>
        </p:nvSpPr>
        <p:spPr>
          <a:xfrm>
            <a:off x="311700" y="3008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기본 RNN 의 한계</a:t>
            </a:r>
            <a:endParaRPr/>
          </a:p>
        </p:txBody>
      </p:sp>
      <p:pic>
        <p:nvPicPr>
          <p:cNvPr id="78" name="Google Shape;78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83288" y="1031775"/>
            <a:ext cx="4980075" cy="3024700"/>
          </a:xfrm>
          <a:prstGeom prst="rect">
            <a:avLst/>
          </a:prstGeom>
          <a:noFill/>
          <a:ln>
            <a:noFill/>
          </a:ln>
        </p:spPr>
      </p:pic>
      <p:sp>
        <p:nvSpPr>
          <p:cNvPr id="79" name="Google Shape;79;p15"/>
          <p:cNvSpPr txBox="1"/>
          <p:nvPr/>
        </p:nvSpPr>
        <p:spPr>
          <a:xfrm>
            <a:off x="447325" y="4363100"/>
            <a:ext cx="8520600" cy="59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ko" sz="1800">
                <a:solidFill>
                  <a:srgbClr val="695D46"/>
                </a:solidFill>
                <a:latin typeface="Open Sans"/>
                <a:ea typeface="Open Sans"/>
                <a:cs typeface="Open Sans"/>
                <a:sym typeface="Open Sans"/>
              </a:rPr>
              <a:t>※ 기본적인 RNN 을 'Simple RNN' 혹은 'Vanila RNN' 이라고도 합니다.</a:t>
            </a:r>
            <a:endParaRPr sz="1800">
              <a:solidFill>
                <a:srgbClr val="695D46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6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기본 순환층의 약점</a:t>
            </a:r>
            <a:endParaRPr/>
          </a:p>
        </p:txBody>
      </p:sp>
      <p:sp>
        <p:nvSpPr>
          <p:cNvPr id="85" name="Google Shape;85;p16"/>
          <p:cNvSpPr txBox="1"/>
          <p:nvPr>
            <p:ph idx="1" type="body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일반적으로 기본 순환층은 </a:t>
            </a:r>
            <a:r>
              <a:rPr lang="ko">
                <a:solidFill>
                  <a:srgbClr val="980000"/>
                </a:solidFill>
              </a:rPr>
              <a:t>'</a:t>
            </a:r>
            <a:r>
              <a:rPr b="1" lang="ko">
                <a:solidFill>
                  <a:srgbClr val="980000"/>
                </a:solidFill>
              </a:rPr>
              <a:t>긴 시퀀스</a:t>
            </a:r>
            <a:r>
              <a:rPr lang="ko">
                <a:solidFill>
                  <a:srgbClr val="980000"/>
                </a:solidFill>
              </a:rPr>
              <a:t>'를 학습하기 어렵다</a:t>
            </a:r>
            <a:r>
              <a:rPr lang="ko"/>
              <a:t>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시퀀스가 길수록 순환되는 은닉상태에 담긴 정보가 희석되기 때문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따라서 멀리 떨어져 있는 단어 정보를 인식하는데 어려울수 있다.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이를 위해 </a:t>
            </a:r>
            <a:r>
              <a:rPr b="1" lang="ko">
                <a:solidFill>
                  <a:srgbClr val="980000"/>
                </a:solidFill>
              </a:rPr>
              <a:t>LSTM</a:t>
            </a:r>
            <a:r>
              <a:rPr b="1" lang="ko"/>
              <a:t> </a:t>
            </a:r>
            <a:r>
              <a:rPr lang="ko"/>
              <a:t>과 </a:t>
            </a:r>
            <a:r>
              <a:rPr b="1" lang="ko">
                <a:solidFill>
                  <a:srgbClr val="980000"/>
                </a:solidFill>
              </a:rPr>
              <a:t>GRU셀</a:t>
            </a:r>
            <a:r>
              <a:rPr lang="ko"/>
              <a:t>이 등장!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↑ SimpleRNN 보다 훨~씬 계산이 복잡하다.  그러나 </a:t>
            </a:r>
            <a:r>
              <a:rPr b="1" lang="ko"/>
              <a:t>'성능'이 뛰어남!</a:t>
            </a:r>
            <a:r>
              <a:rPr lang="ko"/>
              <a:t>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ko"/>
              <a:t>순환신경망에서 많이 채택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7"/>
          <p:cNvSpPr txBox="1"/>
          <p:nvPr>
            <p:ph type="title"/>
          </p:nvPr>
        </p:nvSpPr>
        <p:spPr>
          <a:xfrm>
            <a:off x="311700" y="1402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장기 의존성 문제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3156"/>
              <a:t>(The Problem of Long-term Dependencies)</a:t>
            </a:r>
            <a:endParaRPr sz="3156"/>
          </a:p>
        </p:txBody>
      </p:sp>
      <p:sp>
        <p:nvSpPr>
          <p:cNvPr id="91" name="Google Shape;91;p17"/>
          <p:cNvSpPr txBox="1"/>
          <p:nvPr>
            <p:ph idx="1" type="body"/>
          </p:nvPr>
        </p:nvSpPr>
        <p:spPr>
          <a:xfrm>
            <a:off x="311700" y="1266325"/>
            <a:ext cx="8520600" cy="304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600">
                <a:solidFill>
                  <a:srgbClr val="24292F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가장 중요한 정보가 시점의</a:t>
            </a:r>
            <a:r>
              <a:rPr b="1" lang="ko" sz="1600">
                <a:solidFill>
                  <a:srgbClr val="24292F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앞 쪽에 위치</a:t>
            </a:r>
            <a:r>
              <a:rPr lang="ko" sz="1600">
                <a:solidFill>
                  <a:srgbClr val="24292F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할 수도 있습니다.</a:t>
            </a:r>
            <a:endParaRPr sz="1600">
              <a:solidFill>
                <a:srgbClr val="24292F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ko" sz="1600">
                <a:solidFill>
                  <a:srgbClr val="0000FF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''모스크바에 여행을 왔는데 건물도 예쁘고 먹을 것도 맛있었어. 그런데 글쎄 직장 상사한테 전화가 왔어. 어디냐고 묻더라구 그래서 나는 말했지. 저 여행왔는데요. 여기 ___''</a:t>
            </a:r>
            <a:endParaRPr sz="1600">
              <a:solidFill>
                <a:srgbClr val="0000FF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ko" sz="1600">
                <a:solidFill>
                  <a:srgbClr val="24292F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다음 단어를 예측하기 위해서는 장소 정보가 필요합니다. 그런데 장소 정보에 해당되는 단어인 '모스크바'는 앞에 위치하고 있고, RNN이 </a:t>
            </a:r>
            <a:r>
              <a:rPr b="1" lang="ko" sz="1600">
                <a:solidFill>
                  <a:srgbClr val="98000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충분한 기억력</a:t>
            </a:r>
            <a:r>
              <a:rPr lang="ko" sz="1600">
                <a:solidFill>
                  <a:srgbClr val="24292F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을 가지고 있지 못한다면 다음 단어를 엉뚱하게 예측합니다</a:t>
            </a:r>
            <a:endParaRPr sz="1600">
              <a:solidFill>
                <a:srgbClr val="24292F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ko" sz="1600">
                <a:solidFill>
                  <a:srgbClr val="24292F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이를 </a:t>
            </a:r>
            <a:r>
              <a:rPr b="1" lang="ko" sz="1600">
                <a:solidFill>
                  <a:srgbClr val="98000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장기 의존성 문제</a:t>
            </a:r>
            <a:r>
              <a:rPr lang="ko" sz="1600">
                <a:solidFill>
                  <a:srgbClr val="24292F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(the problem of Long-Term Dependencies)라고 합니다.</a:t>
            </a:r>
            <a:endParaRPr sz="1600">
              <a:solidFill>
                <a:srgbClr val="24292F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ko" sz="1600">
                <a:solidFill>
                  <a:srgbClr val="24292F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이를 극복하기 위해 다양한 RNN 변형이 등장했고 </a:t>
            </a:r>
            <a:r>
              <a:rPr b="1" lang="ko" sz="1600">
                <a:solidFill>
                  <a:srgbClr val="0000FF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LSTM</a:t>
            </a:r>
            <a:r>
              <a:rPr lang="ko" sz="1600">
                <a:solidFill>
                  <a:srgbClr val="24292F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도 그중 하나입니다</a:t>
            </a:r>
            <a:endParaRPr sz="1600">
              <a:solidFill>
                <a:srgbClr val="24292F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8"/>
          <p:cNvSpPr txBox="1"/>
          <p:nvPr>
            <p:ph type="title"/>
          </p:nvPr>
        </p:nvSpPr>
        <p:spPr>
          <a:xfrm>
            <a:off x="311700" y="814800"/>
            <a:ext cx="8571300" cy="942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LSTM</a:t>
            </a:r>
            <a:endParaRPr/>
          </a:p>
        </p:txBody>
      </p:sp>
      <p:sp>
        <p:nvSpPr>
          <p:cNvPr id="97" name="Google Shape;97;p18"/>
          <p:cNvSpPr txBox="1"/>
          <p:nvPr/>
        </p:nvSpPr>
        <p:spPr>
          <a:xfrm>
            <a:off x="3072000" y="1572525"/>
            <a:ext cx="3000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ko" sz="18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Long Short-Term Memory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9"/>
          <p:cNvSpPr txBox="1"/>
          <p:nvPr/>
        </p:nvSpPr>
        <p:spPr>
          <a:xfrm>
            <a:off x="311700" y="445025"/>
            <a:ext cx="8520600" cy="70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3600">
                <a:solidFill>
                  <a:srgbClr val="EF6C00"/>
                </a:solidFill>
                <a:latin typeface="PT Sans Narrow"/>
                <a:ea typeface="PT Sans Narrow"/>
                <a:cs typeface="PT Sans Narrow"/>
                <a:sym typeface="PT Sans Narrow"/>
              </a:rPr>
              <a:t>LSTM 구조</a:t>
            </a:r>
            <a:endParaRPr b="1" sz="3600">
              <a:solidFill>
                <a:srgbClr val="EF6C00"/>
              </a:solidFill>
              <a:latin typeface="PT Sans Narrow"/>
              <a:ea typeface="PT Sans Narrow"/>
              <a:cs typeface="PT Sans Narrow"/>
              <a:sym typeface="PT Sans Narrow"/>
            </a:endParaRPr>
          </a:p>
        </p:txBody>
      </p:sp>
      <p:sp>
        <p:nvSpPr>
          <p:cNvPr id="103" name="Google Shape;103;p19"/>
          <p:cNvSpPr txBox="1"/>
          <p:nvPr/>
        </p:nvSpPr>
        <p:spPr>
          <a:xfrm>
            <a:off x="311700" y="1266325"/>
            <a:ext cx="8520600" cy="238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800">
                <a:solidFill>
                  <a:srgbClr val="695D46"/>
                </a:solidFill>
                <a:latin typeface="Open Sans"/>
                <a:ea typeface="Open Sans"/>
                <a:cs typeface="Open Sans"/>
                <a:sym typeface="Open Sans"/>
              </a:rPr>
              <a:t>Long Short-Term Memory : </a:t>
            </a:r>
            <a:r>
              <a:rPr b="1" lang="ko" sz="1800">
                <a:solidFill>
                  <a:srgbClr val="980000"/>
                </a:solidFill>
                <a:latin typeface="Open Sans"/>
                <a:ea typeface="Open Sans"/>
                <a:cs typeface="Open Sans"/>
                <a:sym typeface="Open Sans"/>
              </a:rPr>
              <a:t>'단기기억'</a:t>
            </a:r>
            <a:r>
              <a:rPr lang="ko" sz="1800">
                <a:solidFill>
                  <a:srgbClr val="695D46"/>
                </a:solidFill>
                <a:latin typeface="Open Sans"/>
                <a:ea typeface="Open Sans"/>
                <a:cs typeface="Open Sans"/>
                <a:sym typeface="Open Sans"/>
              </a:rPr>
              <a:t>을</a:t>
            </a:r>
            <a:r>
              <a:rPr b="1" lang="ko" sz="1800">
                <a:solidFill>
                  <a:srgbClr val="695D46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b="1" lang="ko" sz="1800">
                <a:solidFill>
                  <a:srgbClr val="980000"/>
                </a:solidFill>
                <a:latin typeface="Open Sans"/>
                <a:ea typeface="Open Sans"/>
                <a:cs typeface="Open Sans"/>
                <a:sym typeface="Open Sans"/>
              </a:rPr>
              <a:t>'오래 기억'</a:t>
            </a:r>
            <a:r>
              <a:rPr lang="ko" sz="1800">
                <a:solidFill>
                  <a:srgbClr val="695D46"/>
                </a:solidFill>
                <a:latin typeface="Open Sans"/>
                <a:ea typeface="Open Sans"/>
                <a:cs typeface="Open Sans"/>
                <a:sym typeface="Open Sans"/>
              </a:rPr>
              <a:t>하기 위해 고안됨</a:t>
            </a:r>
            <a:endParaRPr sz="1800">
              <a:solidFill>
                <a:srgbClr val="695D46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ko" sz="1800">
                <a:solidFill>
                  <a:srgbClr val="695D46"/>
                </a:solidFill>
                <a:latin typeface="Open Sans"/>
                <a:ea typeface="Open Sans"/>
                <a:cs typeface="Open Sans"/>
                <a:sym typeface="Open Sans"/>
              </a:rPr>
              <a:t>기본  순환신경망과 기본개념은 동일하나,</a:t>
            </a:r>
            <a:endParaRPr sz="1800">
              <a:solidFill>
                <a:srgbClr val="695D46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ko" sz="1800">
                <a:solidFill>
                  <a:srgbClr val="0000FF"/>
                </a:solidFill>
                <a:latin typeface="Open Sans"/>
                <a:ea typeface="Open Sans"/>
                <a:cs typeface="Open Sans"/>
                <a:sym typeface="Open Sans"/>
              </a:rPr>
              <a:t>LSTM</a:t>
            </a:r>
            <a:r>
              <a:rPr lang="ko" sz="1800">
                <a:solidFill>
                  <a:srgbClr val="695D46"/>
                </a:solidFill>
                <a:latin typeface="Open Sans"/>
                <a:ea typeface="Open Sans"/>
                <a:cs typeface="Open Sans"/>
                <a:sym typeface="Open Sans"/>
              </a:rPr>
              <a:t> 은 입력과 가중치(weight)를 곱하고 절편(bias) 를 더해 활성화 함수를 통과시키는 구조를 </a:t>
            </a:r>
            <a:r>
              <a:rPr b="1" lang="ko" sz="1800">
                <a:solidFill>
                  <a:srgbClr val="0000FF"/>
                </a:solidFill>
                <a:latin typeface="Open Sans"/>
                <a:ea typeface="Open Sans"/>
                <a:cs typeface="Open Sans"/>
                <a:sym typeface="Open Sans"/>
              </a:rPr>
              <a:t>여러개 </a:t>
            </a:r>
            <a:r>
              <a:rPr lang="ko" sz="1800">
                <a:solidFill>
                  <a:srgbClr val="0000FF"/>
                </a:solidFill>
                <a:latin typeface="Open Sans"/>
                <a:ea typeface="Open Sans"/>
                <a:cs typeface="Open Sans"/>
                <a:sym typeface="Open Sans"/>
              </a:rPr>
              <a:t>가지고 있다</a:t>
            </a:r>
            <a:r>
              <a:rPr lang="ko" sz="1800">
                <a:solidFill>
                  <a:srgbClr val="695D46"/>
                </a:solidFill>
                <a:latin typeface="Open Sans"/>
                <a:ea typeface="Open Sans"/>
                <a:cs typeface="Open Sans"/>
                <a:sym typeface="Open Sans"/>
              </a:rPr>
              <a:t>.  </a:t>
            </a:r>
            <a:endParaRPr sz="1800">
              <a:solidFill>
                <a:srgbClr val="695D46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ko" sz="1800">
                <a:solidFill>
                  <a:srgbClr val="695D46"/>
                </a:solidFill>
                <a:latin typeface="Open Sans"/>
                <a:ea typeface="Open Sans"/>
                <a:cs typeface="Open Sans"/>
                <a:sym typeface="Open Sans"/>
              </a:rPr>
              <a:t>이러한 계산 결과는 다음 타임스텝에 재사용된다.</a:t>
            </a:r>
            <a:endParaRPr sz="1800">
              <a:solidFill>
                <a:srgbClr val="695D46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0"/>
          <p:cNvSpPr txBox="1"/>
          <p:nvPr/>
        </p:nvSpPr>
        <p:spPr>
          <a:xfrm>
            <a:off x="311700" y="216425"/>
            <a:ext cx="8520600" cy="70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3600">
                <a:solidFill>
                  <a:srgbClr val="EF6C00"/>
                </a:solidFill>
                <a:latin typeface="PT Sans Narrow"/>
                <a:ea typeface="PT Sans Narrow"/>
                <a:cs typeface="PT Sans Narrow"/>
                <a:sym typeface="PT Sans Narrow"/>
              </a:rPr>
              <a:t>LSTM 의 은닉상태 (hidden state) 만드는 방법</a:t>
            </a:r>
            <a:endParaRPr b="1" sz="3600">
              <a:solidFill>
                <a:srgbClr val="EF6C00"/>
              </a:solidFill>
              <a:latin typeface="PT Sans Narrow"/>
              <a:ea typeface="PT Sans Narrow"/>
              <a:cs typeface="PT Sans Narrow"/>
              <a:sym typeface="PT Sans Narrow"/>
            </a:endParaRPr>
          </a:p>
        </p:txBody>
      </p:sp>
      <p:pic>
        <p:nvPicPr>
          <p:cNvPr id="109" name="Google Shape;109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08625" y="923825"/>
            <a:ext cx="3988490" cy="3610076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20"/>
          <p:cNvSpPr/>
          <p:nvPr/>
        </p:nvSpPr>
        <p:spPr>
          <a:xfrm>
            <a:off x="3442425" y="1212525"/>
            <a:ext cx="1038900" cy="750900"/>
          </a:xfrm>
          <a:prstGeom prst="wedgeRoundRectCallout">
            <a:avLst>
              <a:gd fmla="val 53000" name="adj1"/>
              <a:gd fmla="val 98898" name="adj2"/>
              <a:gd fmla="val 0" name="adj3"/>
            </a:avLst>
          </a:prstGeom>
          <a:solidFill>
            <a:srgbClr val="FFFFFF">
              <a:alpha val="76429"/>
            </a:srgbClr>
          </a:solidFill>
          <a:ln cap="flat" cmpd="sng" w="9525">
            <a:solidFill>
              <a:srgbClr val="695D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000" lIns="36000" spcFirstLastPara="1" rIns="36000" wrap="square" tIns="36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200">
                <a:latin typeface="Consolas"/>
                <a:ea typeface="Consolas"/>
                <a:cs typeface="Consolas"/>
                <a:sym typeface="Consolas"/>
              </a:rPr>
              <a:t>X 는 곱셈</a:t>
            </a:r>
            <a:endParaRPr sz="12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11" name="Google Shape;111;p20"/>
          <p:cNvSpPr/>
          <p:nvPr/>
        </p:nvSpPr>
        <p:spPr>
          <a:xfrm>
            <a:off x="355000" y="1892750"/>
            <a:ext cx="2121300" cy="1730100"/>
          </a:xfrm>
          <a:prstGeom prst="wedgeRoundRectCallout">
            <a:avLst>
              <a:gd fmla="val 139702" name="adj1"/>
              <a:gd fmla="val 6734" name="adj2"/>
              <a:gd fmla="val 0" name="adj3"/>
            </a:avLst>
          </a:prstGeom>
          <a:solidFill>
            <a:srgbClr val="FFFFFF">
              <a:alpha val="76429"/>
            </a:srgbClr>
          </a:solidFill>
          <a:ln cap="flat" cmpd="sng" w="9525">
            <a:solidFill>
              <a:srgbClr val="695D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000" lIns="36000" spcFirstLastPara="1" rIns="36000" wrap="square" tIns="36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200">
                <a:solidFill>
                  <a:srgbClr val="980000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r>
              <a:rPr lang="ko" sz="1200">
                <a:latin typeface="Consolas"/>
                <a:ea typeface="Consolas"/>
                <a:cs typeface="Consolas"/>
                <a:sym typeface="Consolas"/>
              </a:rPr>
              <a:t> 은닉상태는 '입력' 과  '이전 타입스텝의 은닉상태 h'를 가중치 (W</a:t>
            </a:r>
            <a:r>
              <a:rPr baseline="-25000" lang="ko" sz="1200">
                <a:latin typeface="Consolas"/>
                <a:ea typeface="Consolas"/>
                <a:cs typeface="Consolas"/>
                <a:sym typeface="Consolas"/>
              </a:rPr>
              <a:t>0</a:t>
            </a:r>
            <a:r>
              <a:rPr lang="ko" sz="1200">
                <a:latin typeface="Consolas"/>
                <a:ea typeface="Consolas"/>
                <a:cs typeface="Consolas"/>
                <a:sym typeface="Consolas"/>
              </a:rPr>
              <a:t>)에 곱한후 활성화 함수를 통과시켜 다음 은닉상태를 만듭니다.  이때 기본순환층과는 달리 시그모이드 활성화 함수 사용.</a:t>
            </a:r>
            <a:endParaRPr sz="12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12" name="Google Shape;112;p20"/>
          <p:cNvSpPr/>
          <p:nvPr/>
        </p:nvSpPr>
        <p:spPr>
          <a:xfrm>
            <a:off x="617175" y="3783000"/>
            <a:ext cx="2346000" cy="750900"/>
          </a:xfrm>
          <a:prstGeom prst="wedgeRoundRectCallout">
            <a:avLst>
              <a:gd fmla="val 116805" name="adj1"/>
              <a:gd fmla="val -150866" name="adj2"/>
              <a:gd fmla="val 0" name="adj3"/>
            </a:avLst>
          </a:prstGeom>
          <a:solidFill>
            <a:srgbClr val="FFFFFF">
              <a:alpha val="76429"/>
            </a:srgbClr>
          </a:solidFill>
          <a:ln cap="flat" cmpd="sng" w="9525">
            <a:solidFill>
              <a:srgbClr val="695D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000" lIns="36000" spcFirstLastPara="1" rIns="36000" wrap="square" tIns="36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200">
                <a:latin typeface="Consolas"/>
                <a:ea typeface="Consolas"/>
                <a:cs typeface="Consolas"/>
                <a:sym typeface="Consolas"/>
              </a:rPr>
              <a:t>그림의 편의상 </a:t>
            </a:r>
            <a:r>
              <a:rPr b="1" lang="ko" sz="1200">
                <a:latin typeface="Consolas"/>
                <a:ea typeface="Consolas"/>
                <a:cs typeface="Consolas"/>
                <a:sym typeface="Consolas"/>
              </a:rPr>
              <a:t>W</a:t>
            </a:r>
            <a:r>
              <a:rPr b="1" baseline="-25000" lang="ko" sz="1200">
                <a:latin typeface="Consolas"/>
                <a:ea typeface="Consolas"/>
                <a:cs typeface="Consolas"/>
                <a:sym typeface="Consolas"/>
              </a:rPr>
              <a:t>x</a:t>
            </a:r>
            <a:r>
              <a:rPr lang="ko" sz="1200">
                <a:latin typeface="Consolas"/>
                <a:ea typeface="Consolas"/>
                <a:cs typeface="Consolas"/>
                <a:sym typeface="Consolas"/>
              </a:rPr>
              <a:t> 와 </a:t>
            </a:r>
            <a:r>
              <a:rPr b="1" lang="ko" sz="1200">
                <a:latin typeface="Consolas"/>
                <a:ea typeface="Consolas"/>
                <a:cs typeface="Consolas"/>
                <a:sym typeface="Consolas"/>
              </a:rPr>
              <a:t>W</a:t>
            </a:r>
            <a:r>
              <a:rPr b="1" baseline="-25000" lang="ko" sz="1200">
                <a:latin typeface="Consolas"/>
                <a:ea typeface="Consolas"/>
                <a:cs typeface="Consolas"/>
                <a:sym typeface="Consolas"/>
              </a:rPr>
              <a:t>h</a:t>
            </a:r>
            <a:r>
              <a:rPr lang="ko" sz="1200">
                <a:latin typeface="Consolas"/>
                <a:ea typeface="Consolas"/>
                <a:cs typeface="Consolas"/>
                <a:sym typeface="Consolas"/>
              </a:rPr>
              <a:t> 를 통틀어 </a:t>
            </a:r>
            <a:r>
              <a:rPr b="1" lang="ko" sz="1200">
                <a:latin typeface="Consolas"/>
                <a:ea typeface="Consolas"/>
                <a:cs typeface="Consolas"/>
                <a:sym typeface="Consolas"/>
              </a:rPr>
              <a:t>W</a:t>
            </a:r>
            <a:r>
              <a:rPr b="1" baseline="-25000" lang="ko" sz="1200">
                <a:latin typeface="Consolas"/>
                <a:ea typeface="Consolas"/>
                <a:cs typeface="Consolas"/>
                <a:sym typeface="Consolas"/>
              </a:rPr>
              <a:t>0</a:t>
            </a:r>
            <a:r>
              <a:rPr lang="ko" sz="1200">
                <a:latin typeface="Consolas"/>
                <a:ea typeface="Consolas"/>
                <a:cs typeface="Consolas"/>
                <a:sym typeface="Consolas"/>
              </a:rPr>
              <a:t> 로 표시했슴</a:t>
            </a:r>
            <a:endParaRPr sz="12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13" name="Google Shape;113;p20"/>
          <p:cNvSpPr/>
          <p:nvPr/>
        </p:nvSpPr>
        <p:spPr>
          <a:xfrm>
            <a:off x="6673975" y="1299050"/>
            <a:ext cx="2121300" cy="1240800"/>
          </a:xfrm>
          <a:prstGeom prst="wedgeRoundRectCallout">
            <a:avLst>
              <a:gd fmla="val -75982" name="adj1"/>
              <a:gd fmla="val 11272" name="adj2"/>
              <a:gd fmla="val 0" name="adj3"/>
            </a:avLst>
          </a:prstGeom>
          <a:solidFill>
            <a:srgbClr val="FFFFFF">
              <a:alpha val="76429"/>
            </a:srgbClr>
          </a:solidFill>
          <a:ln cap="flat" cmpd="sng" w="9525">
            <a:solidFill>
              <a:srgbClr val="695D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000" lIns="36000" spcFirstLastPara="1" rIns="36000" wrap="square" tIns="36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200">
                <a:solidFill>
                  <a:srgbClr val="980000"/>
                </a:solidFill>
                <a:latin typeface="Consolas"/>
                <a:ea typeface="Consolas"/>
                <a:cs typeface="Consolas"/>
                <a:sym typeface="Consolas"/>
              </a:rPr>
              <a:t>2</a:t>
            </a:r>
            <a:r>
              <a:rPr lang="ko" sz="1200">
                <a:latin typeface="Consolas"/>
                <a:ea typeface="Consolas"/>
                <a:cs typeface="Consolas"/>
                <a:sym typeface="Consolas"/>
              </a:rPr>
              <a:t> 또 tanh 활성화 함수를 통과한 </a:t>
            </a:r>
            <a:r>
              <a:rPr b="1" lang="ko" sz="12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어떤 값</a:t>
            </a:r>
            <a:r>
              <a:rPr lang="ko" sz="1200">
                <a:latin typeface="Consolas"/>
                <a:ea typeface="Consolas"/>
                <a:cs typeface="Consolas"/>
                <a:sym typeface="Consolas"/>
              </a:rPr>
              <a:t>과 곱해져서(X) 은닉상태를 만듭니다</a:t>
            </a:r>
            <a:endParaRPr sz="1200"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1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>
                <a:solidFill>
                  <a:srgbClr val="0000FF"/>
                </a:solidFill>
              </a:rPr>
              <a:t>셀 상태</a:t>
            </a:r>
            <a:r>
              <a:rPr lang="ko"/>
              <a:t> (cell state)</a:t>
            </a:r>
            <a:endParaRPr/>
          </a:p>
        </p:txBody>
      </p:sp>
      <p:sp>
        <p:nvSpPr>
          <p:cNvPr id="119" name="Google Shape;119;p21"/>
          <p:cNvSpPr txBox="1"/>
          <p:nvPr>
            <p:ph idx="1" type="body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LSTM 에는 순환되는 상태가 2개다.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ko">
                <a:solidFill>
                  <a:srgbClr val="980000"/>
                </a:solidFill>
              </a:rPr>
              <a:t>1.은닉상태 (hidden state)</a:t>
            </a:r>
            <a:r>
              <a:rPr lang="ko"/>
              <a:t>   와  </a:t>
            </a:r>
            <a:r>
              <a:rPr b="1" lang="ko">
                <a:solidFill>
                  <a:srgbClr val="0000FF"/>
                </a:solidFill>
              </a:rPr>
              <a:t>2.셀상태 (cell state)</a:t>
            </a:r>
            <a:r>
              <a:rPr b="1" lang="ko"/>
              <a:t> </a:t>
            </a:r>
            <a:r>
              <a:rPr lang="ko"/>
              <a:t>!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ko">
                <a:solidFill>
                  <a:srgbClr val="0000FF"/>
                </a:solidFill>
              </a:rPr>
              <a:t>셀 상태</a:t>
            </a:r>
            <a:r>
              <a:rPr lang="ko"/>
              <a:t>는 은닉상태와 달리 다음 층으로 전달되지 않고 </a:t>
            </a:r>
            <a:r>
              <a:rPr lang="ko">
                <a:solidFill>
                  <a:srgbClr val="0000FF"/>
                </a:solidFill>
              </a:rPr>
              <a:t>LSTM 셀 에서 순환만 되는 값</a:t>
            </a:r>
            <a:r>
              <a:rPr lang="ko"/>
              <a:t>.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4" name="Google Shape;124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68075" y="501800"/>
            <a:ext cx="4361450" cy="4260699"/>
          </a:xfrm>
          <a:prstGeom prst="rect">
            <a:avLst/>
          </a:prstGeom>
          <a:noFill/>
          <a:ln>
            <a:noFill/>
          </a:ln>
        </p:spPr>
      </p:pic>
      <p:sp>
        <p:nvSpPr>
          <p:cNvPr id="125" name="Google Shape;125;p22"/>
          <p:cNvSpPr txBox="1"/>
          <p:nvPr/>
        </p:nvSpPr>
        <p:spPr>
          <a:xfrm>
            <a:off x="311700" y="-12175"/>
            <a:ext cx="5214000" cy="70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25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3600">
                <a:solidFill>
                  <a:srgbClr val="0000FF"/>
                </a:solidFill>
                <a:latin typeface="PT Sans Narrow"/>
                <a:ea typeface="PT Sans Narrow"/>
                <a:cs typeface="PT Sans Narrow"/>
                <a:sym typeface="PT Sans Narrow"/>
              </a:rPr>
              <a:t>셀 상태</a:t>
            </a:r>
            <a:r>
              <a:rPr b="1" lang="ko" sz="3600">
                <a:solidFill>
                  <a:srgbClr val="EF6C00"/>
                </a:solidFill>
                <a:latin typeface="PT Sans Narrow"/>
                <a:ea typeface="PT Sans Narrow"/>
                <a:cs typeface="PT Sans Narrow"/>
                <a:sym typeface="PT Sans Narrow"/>
              </a:rPr>
              <a:t> (cell state) 계산 과정</a:t>
            </a:r>
            <a:endParaRPr b="1" sz="3600">
              <a:solidFill>
                <a:srgbClr val="EF6C00"/>
              </a:solidFill>
              <a:latin typeface="PT Sans Narrow"/>
              <a:ea typeface="PT Sans Narrow"/>
              <a:cs typeface="PT Sans Narrow"/>
              <a:sym typeface="PT Sans Narrow"/>
            </a:endParaRPr>
          </a:p>
        </p:txBody>
      </p:sp>
      <p:sp>
        <p:nvSpPr>
          <p:cNvPr id="126" name="Google Shape;126;p22"/>
          <p:cNvSpPr/>
          <p:nvPr/>
        </p:nvSpPr>
        <p:spPr>
          <a:xfrm>
            <a:off x="5885025" y="161550"/>
            <a:ext cx="1382100" cy="1020300"/>
          </a:xfrm>
          <a:prstGeom prst="wedgeRoundRectCallout">
            <a:avLst>
              <a:gd fmla="val -62751" name="adj1"/>
              <a:gd fmla="val 101164" name="adj2"/>
              <a:gd fmla="val 0" name="adj3"/>
            </a:avLst>
          </a:prstGeom>
          <a:solidFill>
            <a:srgbClr val="FFFFFF">
              <a:alpha val="76429"/>
            </a:srgbClr>
          </a:solidFill>
          <a:ln cap="flat" cmpd="sng" w="9525">
            <a:solidFill>
              <a:srgbClr val="695D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000" lIns="36000" spcFirstLastPara="1" rIns="36000" wrap="square" tIns="36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200">
                <a:solidFill>
                  <a:srgbClr val="980000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r>
              <a:rPr lang="ko" sz="1200">
                <a:latin typeface="Consolas"/>
                <a:ea typeface="Consolas"/>
                <a:cs typeface="Consolas"/>
                <a:sym typeface="Consolas"/>
              </a:rPr>
              <a:t> 셀상태는 은닉상태 h 과 구분하기 위해 C 로 표시</a:t>
            </a:r>
            <a:endParaRPr sz="12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27" name="Google Shape;127;p22"/>
          <p:cNvSpPr/>
          <p:nvPr/>
        </p:nvSpPr>
        <p:spPr>
          <a:xfrm>
            <a:off x="311700" y="2952750"/>
            <a:ext cx="2100900" cy="1020300"/>
          </a:xfrm>
          <a:prstGeom prst="wedgeRoundRectCallout">
            <a:avLst>
              <a:gd fmla="val 99696" name="adj1"/>
              <a:gd fmla="val 31939" name="adj2"/>
              <a:gd fmla="val 0" name="adj3"/>
            </a:avLst>
          </a:prstGeom>
          <a:solidFill>
            <a:srgbClr val="FFFFFF">
              <a:alpha val="76429"/>
            </a:srgbClr>
          </a:solidFill>
          <a:ln cap="flat" cmpd="sng" w="9525">
            <a:solidFill>
              <a:srgbClr val="695D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000" lIns="36000" spcFirstLastPara="1" rIns="36000" wrap="square" tIns="36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200">
                <a:solidFill>
                  <a:srgbClr val="980000"/>
                </a:solidFill>
                <a:latin typeface="Consolas"/>
                <a:ea typeface="Consolas"/>
                <a:cs typeface="Consolas"/>
                <a:sym typeface="Consolas"/>
              </a:rPr>
              <a:t>2</a:t>
            </a:r>
            <a:r>
              <a:rPr lang="ko" sz="1200">
                <a:latin typeface="Consolas"/>
                <a:ea typeface="Consolas"/>
                <a:cs typeface="Consolas"/>
                <a:sym typeface="Consolas"/>
              </a:rPr>
              <a:t> 입력과 은닉상태를 또 다른 가중치 Wf 에 곱한다음 시그모이드 함수 통과.</a:t>
            </a:r>
            <a:endParaRPr sz="12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28" name="Google Shape;128;p22"/>
          <p:cNvSpPr/>
          <p:nvPr/>
        </p:nvSpPr>
        <p:spPr>
          <a:xfrm>
            <a:off x="159300" y="742950"/>
            <a:ext cx="2100900" cy="1020300"/>
          </a:xfrm>
          <a:prstGeom prst="wedgeRoundRectCallout">
            <a:avLst>
              <a:gd fmla="val 99696" name="adj1"/>
              <a:gd fmla="val 31939" name="adj2"/>
              <a:gd fmla="val 0" name="adj3"/>
            </a:avLst>
          </a:prstGeom>
          <a:solidFill>
            <a:srgbClr val="FFFFFF">
              <a:alpha val="76429"/>
            </a:srgbClr>
          </a:solidFill>
          <a:ln cap="flat" cmpd="sng" w="9525">
            <a:solidFill>
              <a:srgbClr val="695D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000" lIns="36000" spcFirstLastPara="1" rIns="36000" wrap="square" tIns="36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200">
                <a:solidFill>
                  <a:srgbClr val="980000"/>
                </a:solidFill>
                <a:latin typeface="Consolas"/>
                <a:ea typeface="Consolas"/>
                <a:cs typeface="Consolas"/>
                <a:sym typeface="Consolas"/>
              </a:rPr>
              <a:t>3</a:t>
            </a:r>
            <a:r>
              <a:rPr lang="ko" sz="1200">
                <a:latin typeface="Consolas"/>
                <a:ea typeface="Consolas"/>
                <a:cs typeface="Consolas"/>
                <a:sym typeface="Consolas"/>
              </a:rPr>
              <a:t> 이전 타입스텝의 셀상태 ( C ) 와 곱하여 새로운 셀상태 만듬.</a:t>
            </a:r>
            <a:endParaRPr sz="12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29" name="Google Shape;129;p22"/>
          <p:cNvSpPr/>
          <p:nvPr/>
        </p:nvSpPr>
        <p:spPr>
          <a:xfrm>
            <a:off x="6568775" y="1350375"/>
            <a:ext cx="2100900" cy="785700"/>
          </a:xfrm>
          <a:prstGeom prst="wedgeRoundRectCallout">
            <a:avLst>
              <a:gd fmla="val -120494" name="adj1"/>
              <a:gd fmla="val 49714" name="adj2"/>
              <a:gd fmla="val 0" name="adj3"/>
            </a:avLst>
          </a:prstGeom>
          <a:solidFill>
            <a:srgbClr val="FFFFFF">
              <a:alpha val="76429"/>
            </a:srgbClr>
          </a:solidFill>
          <a:ln cap="flat" cmpd="sng" w="9525">
            <a:solidFill>
              <a:srgbClr val="695D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000" lIns="36000" spcFirstLastPara="1" rIns="36000" wrap="square" tIns="36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200">
                <a:solidFill>
                  <a:srgbClr val="980000"/>
                </a:solidFill>
                <a:latin typeface="Consolas"/>
                <a:ea typeface="Consolas"/>
                <a:cs typeface="Consolas"/>
                <a:sym typeface="Consolas"/>
              </a:rPr>
              <a:t>4</a:t>
            </a:r>
            <a:r>
              <a:rPr lang="ko" sz="1200">
                <a:latin typeface="Consolas"/>
                <a:ea typeface="Consolas"/>
                <a:cs typeface="Consolas"/>
                <a:sym typeface="Consolas"/>
              </a:rPr>
              <a:t> 이 셀상태 C 가 tanh 함수를 통과하여 새로운 은닉상태를 만드는게 기여</a:t>
            </a:r>
            <a:endParaRPr sz="12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30" name="Google Shape;130;p22"/>
          <p:cNvSpPr/>
          <p:nvPr/>
        </p:nvSpPr>
        <p:spPr>
          <a:xfrm>
            <a:off x="6873575" y="2123738"/>
            <a:ext cx="2100900" cy="621900"/>
          </a:xfrm>
          <a:prstGeom prst="wedgeRoundRectCallout">
            <a:avLst>
              <a:gd fmla="val -24338" name="adj1"/>
              <a:gd fmla="val -63918" name="adj2"/>
              <a:gd fmla="val 0" name="adj3"/>
            </a:avLst>
          </a:prstGeom>
          <a:solidFill>
            <a:srgbClr val="FFFFFF">
              <a:alpha val="76429"/>
            </a:srgbClr>
          </a:solidFill>
          <a:ln cap="flat" cmpd="sng" w="9525">
            <a:solidFill>
              <a:srgbClr val="695D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000" lIns="36000" spcFirstLastPara="1" rIns="36000" wrap="square" tIns="36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200">
                <a:latin typeface="Consolas"/>
                <a:ea typeface="Consolas"/>
                <a:cs typeface="Consolas"/>
                <a:sym typeface="Consolas"/>
              </a:rPr>
              <a:t>LSTM 은 마치 셀을 여러개 포함하고 있는 큰 셀 같다</a:t>
            </a:r>
            <a:endParaRPr sz="12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31" name="Google Shape;131;p22"/>
          <p:cNvSpPr/>
          <p:nvPr/>
        </p:nvSpPr>
        <p:spPr>
          <a:xfrm>
            <a:off x="6872425" y="2864250"/>
            <a:ext cx="2100900" cy="785700"/>
          </a:xfrm>
          <a:prstGeom prst="wedgeRoundRectCallout">
            <a:avLst>
              <a:gd fmla="val -123956" name="adj1"/>
              <a:gd fmla="val -9199" name="adj2"/>
              <a:gd fmla="val 0" name="adj3"/>
            </a:avLst>
          </a:prstGeom>
          <a:solidFill>
            <a:srgbClr val="FFFFFF">
              <a:alpha val="76429"/>
            </a:srgbClr>
          </a:solidFill>
          <a:ln cap="flat" cmpd="sng" w="9525">
            <a:solidFill>
              <a:srgbClr val="695D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000" lIns="36000" spcFirstLastPara="1" rIns="36000" wrap="square" tIns="36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200">
                <a:solidFill>
                  <a:srgbClr val="980000"/>
                </a:solidFill>
                <a:latin typeface="Consolas"/>
                <a:ea typeface="Consolas"/>
                <a:cs typeface="Consolas"/>
                <a:sym typeface="Consolas"/>
              </a:rPr>
              <a:t>5</a:t>
            </a:r>
            <a:r>
              <a:rPr lang="ko" sz="1200">
                <a:latin typeface="Consolas"/>
                <a:ea typeface="Consolas"/>
                <a:cs typeface="Consolas"/>
                <a:sym typeface="Consolas"/>
              </a:rPr>
              <a:t> 입력과 은닉상태에 곱해지는 가중치  </a:t>
            </a:r>
            <a:r>
              <a:rPr lang="ko" sz="12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w0 와 wf 는 다르다</a:t>
            </a:r>
            <a:r>
              <a:rPr lang="ko" sz="1200">
                <a:latin typeface="Consolas"/>
                <a:ea typeface="Consolas"/>
                <a:cs typeface="Consolas"/>
                <a:sym typeface="Consolas"/>
              </a:rPr>
              <a:t>!</a:t>
            </a:r>
            <a:endParaRPr sz="12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32" name="Google Shape;132;p22"/>
          <p:cNvSpPr/>
          <p:nvPr/>
        </p:nvSpPr>
        <p:spPr>
          <a:xfrm>
            <a:off x="6873575" y="3723938"/>
            <a:ext cx="2100900" cy="621900"/>
          </a:xfrm>
          <a:prstGeom prst="wedgeRoundRectCallout">
            <a:avLst>
              <a:gd fmla="val -24338" name="adj1"/>
              <a:gd fmla="val -63918" name="adj2"/>
              <a:gd fmla="val 0" name="adj3"/>
            </a:avLst>
          </a:prstGeom>
          <a:solidFill>
            <a:srgbClr val="FFFFFF">
              <a:alpha val="76429"/>
            </a:srgbClr>
          </a:solidFill>
          <a:ln cap="flat" cmpd="sng" w="9525">
            <a:solidFill>
              <a:srgbClr val="695D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000" lIns="36000" spcFirstLastPara="1" rIns="36000" wrap="square" tIns="36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200">
                <a:latin typeface="Consolas"/>
                <a:ea typeface="Consolas"/>
                <a:cs typeface="Consolas"/>
                <a:sym typeface="Consolas"/>
              </a:rPr>
              <a:t>이 두 작은 셀은 각기 다른 기능을 위해 훈련된다.</a:t>
            </a:r>
            <a:endParaRPr sz="1200"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7" name="Google Shape;137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38400" y="451600"/>
            <a:ext cx="4265550" cy="4234701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23"/>
          <p:cNvSpPr txBox="1"/>
          <p:nvPr/>
        </p:nvSpPr>
        <p:spPr>
          <a:xfrm>
            <a:off x="159300" y="-12175"/>
            <a:ext cx="7173900" cy="70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3600">
                <a:solidFill>
                  <a:srgbClr val="EF6C00"/>
                </a:solidFill>
                <a:latin typeface="PT Sans Narrow"/>
                <a:ea typeface="PT Sans Narrow"/>
                <a:cs typeface="PT Sans Narrow"/>
                <a:sym typeface="PT Sans Narrow"/>
              </a:rPr>
              <a:t>LSTM 에는 총 </a:t>
            </a:r>
            <a:r>
              <a:rPr b="1" lang="ko" sz="3600">
                <a:solidFill>
                  <a:srgbClr val="0000FF"/>
                </a:solidFill>
                <a:latin typeface="PT Sans Narrow"/>
                <a:ea typeface="PT Sans Narrow"/>
                <a:cs typeface="PT Sans Narrow"/>
                <a:sym typeface="PT Sans Narrow"/>
              </a:rPr>
              <a:t>4개의 셀</a:t>
            </a:r>
            <a:r>
              <a:rPr b="1" lang="ko" sz="3600">
                <a:solidFill>
                  <a:srgbClr val="EF6C00"/>
                </a:solidFill>
                <a:latin typeface="PT Sans Narrow"/>
                <a:ea typeface="PT Sans Narrow"/>
                <a:cs typeface="PT Sans Narrow"/>
                <a:sym typeface="PT Sans Narrow"/>
              </a:rPr>
              <a:t>을 갖고 있다</a:t>
            </a:r>
            <a:endParaRPr b="1" sz="3600">
              <a:solidFill>
                <a:srgbClr val="EF6C00"/>
              </a:solidFill>
              <a:latin typeface="PT Sans Narrow"/>
              <a:ea typeface="PT Sans Narrow"/>
              <a:cs typeface="PT Sans Narrow"/>
              <a:sym typeface="PT Sans Narrow"/>
            </a:endParaRPr>
          </a:p>
        </p:txBody>
      </p:sp>
      <p:sp>
        <p:nvSpPr>
          <p:cNvPr id="139" name="Google Shape;139;p23"/>
          <p:cNvSpPr/>
          <p:nvPr/>
        </p:nvSpPr>
        <p:spPr>
          <a:xfrm>
            <a:off x="553950" y="1638025"/>
            <a:ext cx="2100900" cy="785700"/>
          </a:xfrm>
          <a:prstGeom prst="wedgeRoundRectCallout">
            <a:avLst>
              <a:gd fmla="val 107061" name="adj1"/>
              <a:gd fmla="val 86067" name="adj2"/>
              <a:gd fmla="val 0" name="adj3"/>
            </a:avLst>
          </a:prstGeom>
          <a:solidFill>
            <a:srgbClr val="FFFFFF">
              <a:alpha val="76429"/>
            </a:srgbClr>
          </a:solidFill>
          <a:ln cap="flat" cmpd="sng" w="9525">
            <a:solidFill>
              <a:srgbClr val="695D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000" lIns="36000" spcFirstLastPara="1" rIns="36000" wrap="square" tIns="36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200">
                <a:solidFill>
                  <a:srgbClr val="980000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r>
              <a:rPr lang="ko" sz="1200">
                <a:latin typeface="Consolas"/>
                <a:ea typeface="Consolas"/>
                <a:cs typeface="Consolas"/>
                <a:sym typeface="Consolas"/>
              </a:rPr>
              <a:t> 여기에 2개의 작은 셀이 더 추가되어 </a:t>
            </a:r>
            <a:r>
              <a:rPr b="1" lang="ko" sz="1200">
                <a:latin typeface="Consolas"/>
                <a:ea typeface="Consolas"/>
                <a:cs typeface="Consolas"/>
                <a:sym typeface="Consolas"/>
              </a:rPr>
              <a:t>셀상태</a:t>
            </a:r>
            <a:r>
              <a:rPr lang="ko" sz="1200">
                <a:latin typeface="Consolas"/>
                <a:ea typeface="Consolas"/>
                <a:cs typeface="Consolas"/>
                <a:sym typeface="Consolas"/>
              </a:rPr>
              <a:t>를 만드는데 기여</a:t>
            </a:r>
            <a:endParaRPr sz="12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40" name="Google Shape;140;p23"/>
          <p:cNvSpPr/>
          <p:nvPr/>
        </p:nvSpPr>
        <p:spPr>
          <a:xfrm>
            <a:off x="453900" y="2716200"/>
            <a:ext cx="2100900" cy="2057700"/>
          </a:xfrm>
          <a:prstGeom prst="wedgeRoundRectCallout">
            <a:avLst>
              <a:gd fmla="val 103865" name="adj1"/>
              <a:gd fmla="val -42317" name="adj2"/>
              <a:gd fmla="val 0" name="adj3"/>
            </a:avLst>
          </a:prstGeom>
          <a:solidFill>
            <a:srgbClr val="FFFFFF">
              <a:alpha val="76429"/>
            </a:srgbClr>
          </a:solidFill>
          <a:ln cap="flat" cmpd="sng" w="9525">
            <a:solidFill>
              <a:srgbClr val="695D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000" lIns="36000" spcFirstLastPara="1" rIns="36000" wrap="square" tIns="36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200">
                <a:solidFill>
                  <a:srgbClr val="980000"/>
                </a:solidFill>
                <a:latin typeface="Consolas"/>
                <a:ea typeface="Consolas"/>
                <a:cs typeface="Consolas"/>
                <a:sym typeface="Consolas"/>
              </a:rPr>
              <a:t>2</a:t>
            </a:r>
            <a:r>
              <a:rPr lang="ko" sz="1200">
                <a:latin typeface="Consolas"/>
                <a:ea typeface="Consolas"/>
                <a:cs typeface="Consolas"/>
                <a:sym typeface="Consolas"/>
              </a:rPr>
              <a:t> 입력과 은닉 상태를 각기 다른 가중치에 곱한 다음.</a:t>
            </a:r>
            <a:endParaRPr sz="12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200">
                <a:latin typeface="Consolas"/>
                <a:ea typeface="Consolas"/>
                <a:cs typeface="Consolas"/>
                <a:sym typeface="Consolas"/>
              </a:rPr>
              <a:t>하나는 </a:t>
            </a:r>
            <a:r>
              <a:rPr lang="ko" sz="1200">
                <a:solidFill>
                  <a:srgbClr val="980000"/>
                </a:solidFill>
                <a:latin typeface="Consolas"/>
                <a:ea typeface="Consolas"/>
                <a:cs typeface="Consolas"/>
                <a:sym typeface="Consolas"/>
              </a:rPr>
              <a:t>시그모이드</a:t>
            </a:r>
            <a:r>
              <a:rPr lang="ko" sz="1200">
                <a:latin typeface="Consolas"/>
                <a:ea typeface="Consolas"/>
                <a:cs typeface="Consolas"/>
                <a:sym typeface="Consolas"/>
              </a:rPr>
              <a:t>를 통과.  또 다른 하나는 </a:t>
            </a:r>
            <a:r>
              <a:rPr lang="ko" sz="12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tanh</a:t>
            </a:r>
            <a:r>
              <a:rPr lang="ko" sz="1200">
                <a:latin typeface="Consolas"/>
                <a:ea typeface="Consolas"/>
                <a:cs typeface="Consolas"/>
                <a:sym typeface="Consolas"/>
              </a:rPr>
              <a:t> 통과.</a:t>
            </a:r>
            <a:endParaRPr sz="12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200">
                <a:latin typeface="Consolas"/>
                <a:ea typeface="Consolas"/>
                <a:cs typeface="Consolas"/>
                <a:sym typeface="Consolas"/>
              </a:rPr>
              <a:t>그 다음 두 결과를 곱하고 (X)</a:t>
            </a:r>
            <a:endParaRPr sz="12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200">
                <a:latin typeface="Consolas"/>
                <a:ea typeface="Consolas"/>
                <a:cs typeface="Consolas"/>
                <a:sym typeface="Consolas"/>
              </a:rPr>
              <a:t>이전 셀상태과 더합니다(+)</a:t>
            </a:r>
            <a:endParaRPr sz="1200"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141" name="Google Shape;141;p23"/>
          <p:cNvCxnSpPr/>
          <p:nvPr/>
        </p:nvCxnSpPr>
        <p:spPr>
          <a:xfrm flipH="1" rot="10800000">
            <a:off x="1443800" y="2277150"/>
            <a:ext cx="2760600" cy="2010900"/>
          </a:xfrm>
          <a:prstGeom prst="straightConnector1">
            <a:avLst/>
          </a:prstGeom>
          <a:noFill/>
          <a:ln cap="flat" cmpd="sng" w="9525">
            <a:solidFill>
              <a:srgbClr val="0000F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42" name="Google Shape;142;p23"/>
          <p:cNvCxnSpPr/>
          <p:nvPr/>
        </p:nvCxnSpPr>
        <p:spPr>
          <a:xfrm flipH="1" rot="10800000">
            <a:off x="1488900" y="1481075"/>
            <a:ext cx="2619600" cy="3077700"/>
          </a:xfrm>
          <a:prstGeom prst="straightConnector1">
            <a:avLst/>
          </a:prstGeom>
          <a:noFill/>
          <a:ln cap="flat" cmpd="sng" w="9525">
            <a:solidFill>
              <a:srgbClr val="0000FF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24"/>
          <p:cNvSpPr txBox="1"/>
          <p:nvPr>
            <p:ph type="title"/>
          </p:nvPr>
        </p:nvSpPr>
        <p:spPr>
          <a:xfrm>
            <a:off x="235500" y="-1217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삭제 게이트, 입력게이트, 출력게이트</a:t>
            </a:r>
            <a:endParaRPr/>
          </a:p>
        </p:txBody>
      </p:sp>
      <p:pic>
        <p:nvPicPr>
          <p:cNvPr id="148" name="Google Shape;148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25673" y="745550"/>
            <a:ext cx="5350599" cy="4146574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24"/>
          <p:cNvSpPr/>
          <p:nvPr/>
        </p:nvSpPr>
        <p:spPr>
          <a:xfrm>
            <a:off x="374275" y="2571750"/>
            <a:ext cx="2100900" cy="891900"/>
          </a:xfrm>
          <a:prstGeom prst="wedgeRoundRectCallout">
            <a:avLst>
              <a:gd fmla="val 86052" name="adj1"/>
              <a:gd fmla="val -55462" name="adj2"/>
              <a:gd fmla="val 0" name="adj3"/>
            </a:avLst>
          </a:prstGeom>
          <a:solidFill>
            <a:srgbClr val="FFFFFF">
              <a:alpha val="76429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000" lIns="36000" spcFirstLastPara="1" rIns="36000" wrap="square" tIns="36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200">
                <a:solidFill>
                  <a:srgbClr val="980000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r>
              <a:rPr lang="ko" sz="1200"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ko" sz="1200">
                <a:latin typeface="Consolas"/>
                <a:ea typeface="Consolas"/>
                <a:cs typeface="Consolas"/>
                <a:sym typeface="Consolas"/>
              </a:rPr>
              <a:t>삭제게이트</a:t>
            </a:r>
            <a:r>
              <a:rPr lang="ko" sz="1200">
                <a:latin typeface="Consolas"/>
                <a:ea typeface="Consolas"/>
                <a:cs typeface="Consolas"/>
                <a:sym typeface="Consolas"/>
              </a:rPr>
              <a:t>: 셀 상태에 있는 정보를 제거하는 역할</a:t>
            </a:r>
            <a:endParaRPr sz="12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50" name="Google Shape;150;p24"/>
          <p:cNvSpPr/>
          <p:nvPr/>
        </p:nvSpPr>
        <p:spPr>
          <a:xfrm>
            <a:off x="1517275" y="3409950"/>
            <a:ext cx="2100900" cy="891900"/>
          </a:xfrm>
          <a:prstGeom prst="wedgeRoundRectCallout">
            <a:avLst>
              <a:gd fmla="val 51734" name="adj1"/>
              <a:gd fmla="val -87740" name="adj2"/>
              <a:gd fmla="val 0" name="adj3"/>
            </a:avLst>
          </a:prstGeom>
          <a:solidFill>
            <a:srgbClr val="FFFFFF">
              <a:alpha val="76429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000" lIns="36000" spcFirstLastPara="1" rIns="36000" wrap="square" tIns="36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200">
                <a:solidFill>
                  <a:srgbClr val="980000"/>
                </a:solidFill>
                <a:latin typeface="Consolas"/>
                <a:ea typeface="Consolas"/>
                <a:cs typeface="Consolas"/>
                <a:sym typeface="Consolas"/>
              </a:rPr>
              <a:t>2</a:t>
            </a:r>
            <a:r>
              <a:rPr lang="ko" sz="1200"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ko" sz="1200">
                <a:latin typeface="Consolas"/>
                <a:ea typeface="Consolas"/>
                <a:cs typeface="Consolas"/>
                <a:sym typeface="Consolas"/>
              </a:rPr>
              <a:t>입력게이트</a:t>
            </a:r>
            <a:r>
              <a:rPr lang="ko" sz="1200">
                <a:latin typeface="Consolas"/>
                <a:ea typeface="Consolas"/>
                <a:cs typeface="Consolas"/>
                <a:sym typeface="Consolas"/>
              </a:rPr>
              <a:t>: 새로운 정보를 셀 상태에 추가하는 역할</a:t>
            </a:r>
            <a:endParaRPr sz="12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51" name="Google Shape;151;p24"/>
          <p:cNvSpPr/>
          <p:nvPr/>
        </p:nvSpPr>
        <p:spPr>
          <a:xfrm>
            <a:off x="7187375" y="3196100"/>
            <a:ext cx="1956600" cy="891900"/>
          </a:xfrm>
          <a:prstGeom prst="wedgeRoundRectCallout">
            <a:avLst>
              <a:gd fmla="val -72940" name="adj1"/>
              <a:gd fmla="val -83832" name="adj2"/>
              <a:gd fmla="val 0" name="adj3"/>
            </a:avLst>
          </a:prstGeom>
          <a:solidFill>
            <a:srgbClr val="FFFFFF">
              <a:alpha val="76429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000" lIns="36000" spcFirstLastPara="1" rIns="36000" wrap="square" tIns="36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200">
                <a:solidFill>
                  <a:srgbClr val="980000"/>
                </a:solidFill>
                <a:latin typeface="Consolas"/>
                <a:ea typeface="Consolas"/>
                <a:cs typeface="Consolas"/>
                <a:sym typeface="Consolas"/>
              </a:rPr>
              <a:t>3</a:t>
            </a:r>
            <a:r>
              <a:rPr lang="ko" sz="1200"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ko" sz="1200">
                <a:latin typeface="Consolas"/>
                <a:ea typeface="Consolas"/>
                <a:cs typeface="Consolas"/>
                <a:sym typeface="Consolas"/>
              </a:rPr>
              <a:t>출력게이트</a:t>
            </a:r>
            <a:r>
              <a:rPr lang="ko" sz="1200">
                <a:latin typeface="Consolas"/>
                <a:ea typeface="Consolas"/>
                <a:cs typeface="Consolas"/>
                <a:sym typeface="Consolas"/>
              </a:rPr>
              <a:t>: 이 셀상태가 다음 은닉 상태로 출력</a:t>
            </a:r>
            <a:endParaRPr sz="12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52" name="Google Shape;152;p24"/>
          <p:cNvSpPr txBox="1"/>
          <p:nvPr>
            <p:ph idx="1" type="body"/>
          </p:nvPr>
        </p:nvSpPr>
        <p:spPr>
          <a:xfrm>
            <a:off x="94125" y="503275"/>
            <a:ext cx="4037100" cy="169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3군데 곱셈을 왼쪽부터 차례대로 </a:t>
            </a:r>
            <a:r>
              <a:rPr b="1" lang="ko">
                <a:solidFill>
                  <a:srgbClr val="0000FF"/>
                </a:solidFill>
              </a:rPr>
              <a:t> 삭제(망각)게이트 (Forget Gate), </a:t>
            </a:r>
            <a:endParaRPr b="1">
              <a:solidFill>
                <a:srgbClr val="0000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>
                <a:solidFill>
                  <a:srgbClr val="0000FF"/>
                </a:solidFill>
              </a:rPr>
              <a:t>입력게이트 (Input Gate), </a:t>
            </a:r>
            <a:endParaRPr b="1">
              <a:solidFill>
                <a:srgbClr val="0000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>
                <a:solidFill>
                  <a:srgbClr val="0000FF"/>
                </a:solidFill>
              </a:rPr>
              <a:t>출력게이트 (Output Gate) </a:t>
            </a:r>
            <a:r>
              <a:rPr lang="ko"/>
              <a:t>라고 부릅니다</a:t>
            </a:r>
            <a:endParaRPr/>
          </a:p>
        </p:txBody>
      </p:sp>
      <p:sp>
        <p:nvSpPr>
          <p:cNvPr id="153" name="Google Shape;153;p24"/>
          <p:cNvSpPr/>
          <p:nvPr/>
        </p:nvSpPr>
        <p:spPr>
          <a:xfrm>
            <a:off x="6854275" y="212050"/>
            <a:ext cx="2100900" cy="785700"/>
          </a:xfrm>
          <a:prstGeom prst="wedgeRoundRectCallout">
            <a:avLst>
              <a:gd fmla="val -64183" name="adj1"/>
              <a:gd fmla="val -9278" name="adj2"/>
              <a:gd fmla="val 0" name="adj3"/>
            </a:avLst>
          </a:prstGeom>
          <a:solidFill>
            <a:srgbClr val="FFFFFF">
              <a:alpha val="76429"/>
            </a:srgbClr>
          </a:solidFill>
          <a:ln cap="flat" cmpd="sng" w="9525">
            <a:solidFill>
              <a:srgbClr val="695D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000" lIns="36000" spcFirstLastPara="1" rIns="36000" wrap="square" tIns="36000">
            <a:no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Font typeface="Consolas"/>
              <a:buChar char="●"/>
            </a:pPr>
            <a:r>
              <a:rPr lang="ko" sz="1200">
                <a:latin typeface="Consolas"/>
                <a:ea typeface="Consolas"/>
                <a:cs typeface="Consolas"/>
                <a:sym typeface="Consolas"/>
              </a:rPr>
              <a:t>입력게이트</a:t>
            </a:r>
            <a:endParaRPr sz="1200">
              <a:latin typeface="Consolas"/>
              <a:ea typeface="Consolas"/>
              <a:cs typeface="Consolas"/>
              <a:sym typeface="Consolas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Font typeface="Consolas"/>
              <a:buChar char="●"/>
            </a:pPr>
            <a:r>
              <a:rPr lang="ko" sz="1200">
                <a:latin typeface="Consolas"/>
                <a:ea typeface="Consolas"/>
                <a:cs typeface="Consolas"/>
                <a:sym typeface="Consolas"/>
              </a:rPr>
              <a:t>삭제(망각)게이트</a:t>
            </a:r>
            <a:endParaRPr sz="1200">
              <a:latin typeface="Consolas"/>
              <a:ea typeface="Consolas"/>
              <a:cs typeface="Consolas"/>
              <a:sym typeface="Consolas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Font typeface="Consolas"/>
              <a:buChar char="●"/>
            </a:pPr>
            <a:r>
              <a:rPr lang="ko" sz="1200">
                <a:latin typeface="Consolas"/>
                <a:ea typeface="Consolas"/>
                <a:cs typeface="Consolas"/>
                <a:sym typeface="Consolas"/>
              </a:rPr>
              <a:t>셀 상태</a:t>
            </a:r>
            <a:endParaRPr sz="1200">
              <a:latin typeface="Consolas"/>
              <a:ea typeface="Consolas"/>
              <a:cs typeface="Consolas"/>
              <a:sym typeface="Consolas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Font typeface="Consolas"/>
              <a:buChar char="●"/>
            </a:pPr>
            <a:r>
              <a:rPr lang="ko" sz="1200">
                <a:latin typeface="Consolas"/>
                <a:ea typeface="Consolas"/>
                <a:cs typeface="Consolas"/>
                <a:sym typeface="Consolas"/>
              </a:rPr>
              <a:t>출력 게이트</a:t>
            </a:r>
            <a:endParaRPr sz="1200"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25"/>
          <p:cNvSpPr txBox="1"/>
          <p:nvPr>
            <p:ph type="title"/>
          </p:nvPr>
        </p:nvSpPr>
        <p:spPr>
          <a:xfrm>
            <a:off x="983175" y="290500"/>
            <a:ext cx="63633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Simple RNN  과 LSTM 의 step 비교</a:t>
            </a:r>
            <a:endParaRPr/>
          </a:p>
        </p:txBody>
      </p:sp>
      <p:pic>
        <p:nvPicPr>
          <p:cNvPr id="159" name="Google Shape;159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200" y="1228625"/>
            <a:ext cx="3848100" cy="3095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0" name="Google Shape;160;p2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035900" y="1106150"/>
            <a:ext cx="4019550" cy="3143250"/>
          </a:xfrm>
          <a:prstGeom prst="rect">
            <a:avLst/>
          </a:prstGeom>
          <a:noFill/>
          <a:ln>
            <a:noFill/>
          </a:ln>
        </p:spPr>
      </p:pic>
      <p:sp>
        <p:nvSpPr>
          <p:cNvPr id="161" name="Google Shape;161;p25"/>
          <p:cNvSpPr/>
          <p:nvPr/>
        </p:nvSpPr>
        <p:spPr>
          <a:xfrm>
            <a:off x="6210650" y="887100"/>
            <a:ext cx="1762800" cy="660000"/>
          </a:xfrm>
          <a:prstGeom prst="wedgeRoundRectCallout">
            <a:avLst>
              <a:gd fmla="val -19412" name="adj1"/>
              <a:gd fmla="val 89841" name="adj2"/>
              <a:gd fmla="val 0" name="adj3"/>
            </a:avLst>
          </a:prstGeom>
          <a:solidFill>
            <a:srgbClr val="FFFFFF">
              <a:alpha val="81129"/>
            </a:srgbClr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000" lIns="36000" spcFirstLastPara="1" rIns="36000" wrap="square" tIns="36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100"/>
              <a:t>은닉상태(h), 셀상태(C)  </a:t>
            </a:r>
            <a:endParaRPr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100"/>
              <a:t>두 상태가 </a:t>
            </a:r>
            <a:endParaRPr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100"/>
              <a:t>다음 스텝으로 전달</a:t>
            </a:r>
            <a:endParaRPr sz="11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Tropic">
  <a:themeElements>
    <a:clrScheme name="Tropic">
      <a:dk1>
        <a:srgbClr val="A1E8D9"/>
      </a:dk1>
      <a:lt1>
        <a:srgbClr val="FFFFFF"/>
      </a:lt1>
      <a:dk2>
        <a:srgbClr val="695D46"/>
      </a:dk2>
      <a:lt2>
        <a:srgbClr val="B3A77D"/>
      </a:lt2>
      <a:accent1>
        <a:srgbClr val="EF6C00"/>
      </a:accent1>
      <a:accent2>
        <a:srgbClr val="CE93D8"/>
      </a:accent2>
      <a:accent3>
        <a:srgbClr val="4DB6AC"/>
      </a:accent3>
      <a:accent4>
        <a:srgbClr val="FF9800"/>
      </a:accent4>
      <a:accent5>
        <a:srgbClr val="009668"/>
      </a:accent5>
      <a:accent6>
        <a:srgbClr val="EEFF41"/>
      </a:accent6>
      <a:hlink>
        <a:srgbClr val="009668"/>
      </a:hlink>
      <a:folHlink>
        <a:srgbClr val="00966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